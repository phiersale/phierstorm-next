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men, welcome. For us, by us. Let that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PHIERS was built by Foundational Black American men. It was built for everyone. This document speaks directly to Black American men because every movement begins somewhere. When we speak about race, it is never to divide, but to acknowledge the community this movement emerged from and the responsibility that comes with that history. When Black American men rise to our highest potential, everyone benefits. If you are not the audience this speaks to first, we still hope you will continue reading, because the future we are building belongs to all of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carried weight a long time. Nobody is coming to save us. We learned from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does not come from shouting louder. It comes from enough disciplined people moving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protest. Not a political party. A structure that helps men get whole, build leverage, and solve problems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pause. The choice is yours.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only works if enough of us choose to build it. Participation is voluntary. The opportunity belongs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prophecy was not metaphor. It was a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Genesis 15:13-14. Four hundred years, then they leave with great substance. Substance becomes leverage.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Endurance into structure. Memory into coordination. Pressure into leverage. One disciplined man at a time. Then fifteen hundred.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carried weight nobody else was asked to carry. And somehow we still built. Sankofa: look back to move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Pressure did not just hurt us. It sharpened us. To think under strain, build without help, read danger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build, we repair. Healing not as self-help, as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Reconstruction, Jim Crow, convict leasing, COINTELPRO. We built again. Every single time. That is inheritance.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Scattered men get ignored. Organized men change outcomes. 1500 organized beats 15000 scattered.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building a list of programs. We are building leverage, and leverage makes everything else possible. The how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Organized people, by district, with real consequences. That is how change actually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Elected officials should know when 1500 engaged men in their district are paying attention. Too coordinated to ignore.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doors. The Prophecy, the Movement, Leverage. Choose the one that speaks to you. No wrong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does not start with millions. It starts with the first fifteen hundred. Everything else grows from there. Enter at phiers.org.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History does not remember the movements that waited. It remembers the ones that organized.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prophecy was never the destination. It was the invitation. Now we build. Enter at PHIERS.org.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908"/>
        </a:solidFill>
      </p:bgPr>
    </p:bg>
    <p:spTree>
      <p:nvGrpSpPr>
        <p:cNvPr id="1" name=""/>
        <p:cNvGrpSpPr/>
        <p:nvPr/>
      </p:nvGrpSpPr>
      <p:grpSpPr>
        <a:xfrm>
          <a:off x="0" y="0"/>
          <a:ext cx="0" cy="0"/>
          <a:chOff x="0" y="0"/>
          <a:chExt cx="0" cy="0"/>
        </a:xfrm>
      </p:grpSpPr>
      <p:sp>
        <p:nvSpPr>
          <p:cNvPr id="2" name="Text 0"/>
          <p:cNvSpPr/>
          <p:nvPr/>
        </p:nvSpPr>
        <p:spPr>
          <a:xfrm>
            <a:off x="1219177" y="990581"/>
            <a:ext cx="8830673" cy="295069"/>
          </a:xfrm>
          <a:prstGeom prst="rect">
            <a:avLst/>
          </a:prstGeom>
          <a:noFill/>
          <a:ln/>
        </p:spPr>
        <p:txBody>
          <a:bodyPr wrap="square" lIns="25400" tIns="25400" rIns="25400" bIns="25400" rtlCol="0" anchor="t">
            <a:normAutofit/>
          </a:bodyPr>
          <a:lstStyle/>
          <a:p>
            <a:pPr algn="l" indent="0" marL="0">
              <a:buNone/>
            </a:pPr>
            <a:r>
              <a:rPr lang="en-US" sz="1350" spc="459" kern="0" dirty="0">
                <a:solidFill>
                  <a:srgbClr val="B89160"/>
                </a:solidFill>
                <a:latin typeface="Courier New" pitchFamily="34" charset="0"/>
                <a:ea typeface="Courier New" pitchFamily="34" charset="-122"/>
                <a:cs typeface="Courier New" pitchFamily="34" charset="-120"/>
              </a:rPr>
              <a:t>🜂 THE PROPHECY · THE FOUNDING DOCUMENT OF PHIERS</a:t>
            </a:r>
            <a:endParaRPr lang="en-US" sz="1350" dirty="0"/>
          </a:p>
        </p:txBody>
      </p:sp>
      <p:pic>
        <p:nvPicPr>
          <p:cNvPr id="3" name="Image 0" descr="preencoded.png">    </p:cNvPr>
          <p:cNvPicPr>
            <a:picLocks noChangeAspect="1"/>
          </p:cNvPicPr>
          <p:nvPr/>
        </p:nvPicPr>
        <p:blipFill>
          <a:blip r:embed="rId1"/>
          <a:stretch>
            <a:fillRect/>
          </a:stretch>
        </p:blipFill>
        <p:spPr>
          <a:xfrm>
            <a:off x="16318717" y="990581"/>
            <a:ext cx="750029" cy="571489"/>
          </a:xfrm>
          <a:prstGeom prst="rect">
            <a:avLst/>
          </a:prstGeom>
        </p:spPr>
      </p:pic>
      <p:sp>
        <p:nvSpPr>
          <p:cNvPr id="4" name="Text 1"/>
          <p:cNvSpPr/>
          <p:nvPr/>
        </p:nvSpPr>
        <p:spPr>
          <a:xfrm>
            <a:off x="1219177" y="2787494"/>
            <a:ext cx="17434527" cy="317911"/>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EFE9DC">
                    <a:alpha val="50000"/>
                  </a:srgbClr>
                </a:solidFill>
                <a:latin typeface="Courier New" pitchFamily="34" charset="0"/>
                <a:ea typeface="Courier New" pitchFamily="34" charset="-122"/>
                <a:cs typeface="Courier New" pitchFamily="34" charset="-120"/>
              </a:rPr>
              <a:t>BLACK MEN… WELCOME</a:t>
            </a:r>
            <a:endParaRPr lang="en-US" sz="1500" dirty="0"/>
          </a:p>
        </p:txBody>
      </p:sp>
      <p:sp>
        <p:nvSpPr>
          <p:cNvPr id="5" name="Text 2"/>
          <p:cNvSpPr/>
          <p:nvPr/>
        </p:nvSpPr>
        <p:spPr>
          <a:xfrm>
            <a:off x="1219177" y="3353005"/>
            <a:ext cx="16325057" cy="2867262"/>
          </a:xfrm>
          <a:prstGeom prst="rect">
            <a:avLst/>
          </a:prstGeom>
          <a:noFill/>
          <a:ln/>
        </p:spPr>
        <p:txBody>
          <a:bodyPr wrap="square" lIns="25400" tIns="25400" rIns="25400" bIns="25400" rtlCol="0" anchor="t">
            <a:normAutofit/>
          </a:bodyPr>
          <a:lstStyle/>
          <a:p>
            <a:pPr algn="l" indent="0" marL="0">
              <a:lnSpc>
                <a:spcPct val="94000"/>
              </a:lnSpc>
              <a:buNone/>
            </a:pPr>
            <a:r>
              <a:rPr lang="en-US" sz="11850" b="1" spc="-178" kern="0" dirty="0">
                <a:solidFill>
                  <a:srgbClr val="EFE9DC"/>
                </a:solidFill>
                <a:latin typeface="Georgia" pitchFamily="34" charset="0"/>
                <a:ea typeface="Georgia" pitchFamily="34" charset="-122"/>
                <a:cs typeface="Georgia" pitchFamily="34" charset="-120"/>
              </a:rPr>
              <a:t>For Us. By Us.</a:t>
            </a:r>
            <a:endParaRPr lang="en-US" sz="11850" dirty="0"/>
          </a:p>
        </p:txBody>
      </p:sp>
      <p:sp>
        <p:nvSpPr>
          <p:cNvPr id="6" name="Text 3"/>
          <p:cNvSpPr/>
          <p:nvPr/>
        </p:nvSpPr>
        <p:spPr>
          <a:xfrm>
            <a:off x="1219177" y="6544065"/>
            <a:ext cx="17434527" cy="592012"/>
          </a:xfrm>
          <a:prstGeom prst="rect">
            <a:avLst/>
          </a:prstGeom>
          <a:noFill/>
          <a:ln/>
        </p:spPr>
        <p:txBody>
          <a:bodyPr wrap="square" lIns="25400" tIns="25400" rIns="25400" bIns="25400" rtlCol="0" anchor="t">
            <a:normAutofit/>
          </a:bodyPr>
          <a:lstStyle/>
          <a:p>
            <a:pPr algn="l" indent="0" marL="0">
              <a:buNone/>
            </a:pPr>
            <a:r>
              <a:rPr lang="en-US" sz="3600" i="1" dirty="0">
                <a:solidFill>
                  <a:srgbClr val="EFE9DC">
                    <a:alpha val="60000"/>
                  </a:srgbClr>
                </a:solidFill>
                <a:latin typeface="Georgia" pitchFamily="34" charset="0"/>
                <a:ea typeface="Georgia" pitchFamily="34" charset="-122"/>
                <a:cs typeface="Georgia" pitchFamily="34" charset="-120"/>
              </a:rPr>
              <a:t>Let that land.</a:t>
            </a:r>
            <a:endParaRPr lang="en-US" sz="3600" dirty="0"/>
          </a:p>
        </p:txBody>
      </p:sp>
      <p:sp>
        <p:nvSpPr>
          <p:cNvPr id="7" name="Text 4"/>
          <p:cNvSpPr/>
          <p:nvPr/>
        </p:nvSpPr>
        <p:spPr>
          <a:xfrm>
            <a:off x="7171409" y="8323400"/>
            <a:ext cx="4339615" cy="300780"/>
          </a:xfrm>
          <a:prstGeom prst="rect">
            <a:avLst/>
          </a:prstGeom>
          <a:noFill/>
          <a:ln/>
        </p:spPr>
        <p:txBody>
          <a:bodyPr wrap="square" lIns="25400" tIns="25400" rIns="25400" bIns="25400" rtlCol="0" anchor="t">
            <a:normAutofit/>
          </a:bodyPr>
          <a:lstStyle/>
          <a:p>
            <a:pPr algn="l" indent="0" marL="0">
              <a:buNone/>
            </a:pPr>
            <a:r>
              <a:rPr lang="en-US" sz="1425" spc="371" kern="0" dirty="0">
                <a:solidFill>
                  <a:srgbClr val="B89160"/>
                </a:solidFill>
                <a:latin typeface="Courier New" pitchFamily="34" charset="0"/>
                <a:ea typeface="Courier New" pitchFamily="34" charset="-122"/>
                <a:cs typeface="Courier New" pitchFamily="34" charset="-120"/>
              </a:rPr>
              <a:t>WWW.PHIERS.ORG / PROPHECY</a:t>
            </a:r>
            <a:endParaRPr lang="en-US" sz="1425" dirty="0"/>
          </a:p>
        </p:txBody>
      </p:sp>
      <p:sp>
        <p:nvSpPr>
          <p:cNvPr id="8" name="Shape 5"/>
          <p:cNvSpPr/>
          <p:nvPr/>
        </p:nvSpPr>
        <p:spPr>
          <a:xfrm>
            <a:off x="1219177" y="8814675"/>
            <a:ext cx="15849570" cy="9525"/>
          </a:xfrm>
          <a:prstGeom prst="rect">
            <a:avLst/>
          </a:prstGeom>
          <a:solidFill>
            <a:srgbClr val="B89160">
              <a:alpha val="30000"/>
            </a:srgbClr>
          </a:solidFill>
          <a:ln/>
        </p:spPr>
      </p:sp>
      <p:sp>
        <p:nvSpPr>
          <p:cNvPr id="9" name="Text 6"/>
          <p:cNvSpPr/>
          <p:nvPr/>
        </p:nvSpPr>
        <p:spPr>
          <a:xfrm>
            <a:off x="1219177" y="9067986"/>
            <a:ext cx="7245779" cy="266517"/>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EFE9DC">
                    <a:alpha val="42000"/>
                  </a:srgbClr>
                </a:solidFill>
                <a:latin typeface="Courier New" pitchFamily="34" charset="0"/>
                <a:ea typeface="Courier New" pitchFamily="34" charset="-122"/>
                <a:cs typeface="Courier New" pitchFamily="34" charset="-120"/>
              </a:rPr>
              <a:t>A GIFT FROM FOUNDATIONAL BLACK AMERICAN MEN TO HUMANITY.</a:t>
            </a:r>
            <a:endParaRPr lang="en-US" sz="1200" dirty="0"/>
          </a:p>
        </p:txBody>
      </p:sp>
      <p:sp>
        <p:nvSpPr>
          <p:cNvPr id="10" name="Text 7"/>
          <p:cNvSpPr/>
          <p:nvPr/>
        </p:nvSpPr>
        <p:spPr>
          <a:xfrm>
            <a:off x="15539600" y="9067986"/>
            <a:ext cx="1682061" cy="266517"/>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EFE9DC">
                    <a:alpha val="42000"/>
                  </a:srgbClr>
                </a:solidFill>
                <a:latin typeface="Courier New" pitchFamily="34" charset="0"/>
                <a:ea typeface="Courier New" pitchFamily="34" charset="-122"/>
                <a:cs typeface="Courier New" pitchFamily="34" charset="-120"/>
              </a:rPr>
              <a:t>FIRST EDITION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908"/>
        </a:solidFill>
      </p:bgPr>
    </p:bg>
    <p:spTree>
      <p:nvGrpSpPr>
        <p:cNvPr id="1" name=""/>
        <p:cNvGrpSpPr/>
        <p:nvPr/>
      </p:nvGrpSpPr>
      <p:grpSpPr>
        <a:xfrm>
          <a:off x="0" y="0"/>
          <a:ext cx="0" cy="0"/>
          <a:chOff x="0" y="0"/>
          <a:chExt cx="0" cy="0"/>
        </a:xfrm>
      </p:grpSpPr>
      <p:sp>
        <p:nvSpPr>
          <p:cNvPr id="2" name="Text 0"/>
          <p:cNvSpPr/>
          <p:nvPr/>
        </p:nvSpPr>
        <p:spPr>
          <a:xfrm>
            <a:off x="1619175" y="1112999"/>
            <a:ext cx="16554531" cy="295069"/>
          </a:xfrm>
          <a:prstGeom prst="rect">
            <a:avLst/>
          </a:prstGeom>
          <a:noFill/>
          <a:ln/>
        </p:spPr>
        <p:txBody>
          <a:bodyPr wrap="square" lIns="25400" tIns="25400" rIns="25400" bIns="25400" rtlCol="0" anchor="t">
            <a:normAutofit/>
          </a:bodyPr>
          <a:lstStyle/>
          <a:p>
            <a:pPr algn="l" indent="0" marL="0">
              <a:buNone/>
            </a:pPr>
            <a:r>
              <a:rPr lang="en-US" sz="1350" spc="459" kern="0" dirty="0">
                <a:solidFill>
                  <a:srgbClr val="B89160"/>
                </a:solidFill>
                <a:latin typeface="Courier New" pitchFamily="34" charset="0"/>
                <a:ea typeface="Courier New" pitchFamily="34" charset="-122"/>
                <a:cs typeface="Courier New" pitchFamily="34" charset="-120"/>
              </a:rPr>
              <a:t>🜂 BEFORE YOU CONTINUE</a:t>
            </a:r>
            <a:endParaRPr lang="en-US" sz="1350" dirty="0"/>
          </a:p>
        </p:txBody>
      </p:sp>
      <p:sp>
        <p:nvSpPr>
          <p:cNvPr id="3" name="Text 1"/>
          <p:cNvSpPr/>
          <p:nvPr/>
        </p:nvSpPr>
        <p:spPr>
          <a:xfrm>
            <a:off x="1619175" y="1789060"/>
            <a:ext cx="5494009" cy="1858835"/>
          </a:xfrm>
          <a:prstGeom prst="rect">
            <a:avLst/>
          </a:prstGeom>
          <a:noFill/>
          <a:ln/>
        </p:spPr>
        <p:txBody>
          <a:bodyPr wrap="square" lIns="25400" tIns="25400" rIns="25400" bIns="25400" rtlCol="0" anchor="t">
            <a:normAutofit/>
          </a:bodyPr>
          <a:lstStyle/>
          <a:p>
            <a:pPr algn="l" indent="0" marL="0">
              <a:lnSpc>
                <a:spcPct val="118000"/>
              </a:lnSpc>
              <a:buNone/>
            </a:pPr>
            <a:r>
              <a:rPr lang="en-US" sz="4050" dirty="0">
                <a:solidFill>
                  <a:srgbClr val="EFE9DC"/>
                </a:solidFill>
                <a:latin typeface="Georgia" pitchFamily="34" charset="0"/>
                <a:ea typeface="Georgia" pitchFamily="34" charset="-122"/>
                <a:cs typeface="Georgia" pitchFamily="34" charset="-120"/>
              </a:rPr>
              <a:t>PHIERS was built by Foundational Black American men.</a:t>
            </a:r>
            <a:endParaRPr lang="en-US" sz="4050" dirty="0"/>
          </a:p>
        </p:txBody>
      </p:sp>
      <p:sp>
        <p:nvSpPr>
          <p:cNvPr id="4" name="Text 2"/>
          <p:cNvSpPr/>
          <p:nvPr/>
        </p:nvSpPr>
        <p:spPr>
          <a:xfrm>
            <a:off x="1619175" y="3781198"/>
            <a:ext cx="5867388" cy="645012"/>
          </a:xfrm>
          <a:prstGeom prst="rect">
            <a:avLst/>
          </a:prstGeom>
          <a:noFill/>
          <a:ln/>
        </p:spPr>
        <p:txBody>
          <a:bodyPr wrap="square" lIns="25400" tIns="25400" rIns="25400" bIns="25400" rtlCol="0" anchor="t">
            <a:normAutofit/>
          </a:bodyPr>
          <a:lstStyle/>
          <a:p>
            <a:pPr algn="l" indent="0" marL="0">
              <a:lnSpc>
                <a:spcPct val="118000"/>
              </a:lnSpc>
              <a:buNone/>
            </a:pPr>
            <a:r>
              <a:rPr lang="en-US" sz="4050" i="1" dirty="0">
                <a:solidFill>
                  <a:srgbClr val="CDBF9A"/>
                </a:solidFill>
                <a:latin typeface="Georgia" pitchFamily="34" charset="0"/>
                <a:ea typeface="Georgia" pitchFamily="34" charset="-122"/>
                <a:cs typeface="Georgia" pitchFamily="34" charset="-120"/>
              </a:rPr>
              <a:t>It was built for everyone.</a:t>
            </a:r>
            <a:endParaRPr lang="en-US" sz="4050" dirty="0"/>
          </a:p>
        </p:txBody>
      </p:sp>
      <p:sp>
        <p:nvSpPr>
          <p:cNvPr id="5" name="Shape 3"/>
          <p:cNvSpPr/>
          <p:nvPr/>
        </p:nvSpPr>
        <p:spPr>
          <a:xfrm>
            <a:off x="7867547" y="1789060"/>
            <a:ext cx="9525" cy="7384926"/>
          </a:xfrm>
          <a:prstGeom prst="rect">
            <a:avLst/>
          </a:prstGeom>
          <a:solidFill>
            <a:srgbClr val="B89160">
              <a:alpha val="40000"/>
            </a:srgbClr>
          </a:solidFill>
          <a:ln/>
        </p:spPr>
      </p:sp>
      <p:sp>
        <p:nvSpPr>
          <p:cNvPr id="6" name="Text 4"/>
          <p:cNvSpPr/>
          <p:nvPr/>
        </p:nvSpPr>
        <p:spPr>
          <a:xfrm>
            <a:off x="8482846" y="1789060"/>
            <a:ext cx="8431480" cy="1167427"/>
          </a:xfrm>
          <a:prstGeom prst="rect">
            <a:avLst/>
          </a:prstGeom>
          <a:noFill/>
          <a:ln/>
        </p:spPr>
        <p:txBody>
          <a:bodyPr wrap="square" lIns="25400" tIns="25400" rIns="25400" bIns="25400" rtlCol="0" anchor="t">
            <a:normAutofit/>
          </a:bodyPr>
          <a:lstStyle/>
          <a:p>
            <a:pPr algn="l" indent="0" marL="0">
              <a:lnSpc>
                <a:spcPct val="152000"/>
              </a:lnSpc>
              <a:buNone/>
            </a:pPr>
            <a:r>
              <a:rPr lang="en-US" sz="1950" dirty="0">
                <a:solidFill>
                  <a:srgbClr val="EFE9DC">
                    <a:alpha val="74000"/>
                  </a:srgbClr>
                </a:solidFill>
                <a:latin typeface="Helvetica" pitchFamily="34" charset="0"/>
                <a:ea typeface="Helvetica" pitchFamily="34" charset="-122"/>
                <a:cs typeface="Helvetica" pitchFamily="34" charset="-120"/>
              </a:rPr>
              <a:t>This document speaks directly to Black American men because every movement begins somewhere, and every generation is called to answer its own challenges.</a:t>
            </a:r>
            <a:endParaRPr lang="en-US" sz="1950" dirty="0"/>
          </a:p>
        </p:txBody>
      </p:sp>
      <p:sp>
        <p:nvSpPr>
          <p:cNvPr id="7" name="Text 5"/>
          <p:cNvSpPr/>
          <p:nvPr/>
        </p:nvSpPr>
        <p:spPr>
          <a:xfrm>
            <a:off x="8482846" y="3127889"/>
            <a:ext cx="8431480" cy="1167427"/>
          </a:xfrm>
          <a:prstGeom prst="rect">
            <a:avLst/>
          </a:prstGeom>
          <a:noFill/>
          <a:ln/>
        </p:spPr>
        <p:txBody>
          <a:bodyPr wrap="square" lIns="25400" tIns="25400" rIns="25400" bIns="25400" rtlCol="0" anchor="t">
            <a:normAutofit/>
          </a:bodyPr>
          <a:lstStyle/>
          <a:p>
            <a:pPr algn="l" indent="0" marL="0">
              <a:lnSpc>
                <a:spcPct val="152000"/>
              </a:lnSpc>
              <a:buNone/>
            </a:pPr>
            <a:r>
              <a:rPr lang="en-US" sz="1950" i="1" dirty="0">
                <a:solidFill>
                  <a:srgbClr val="EFE9DC">
                    <a:alpha val="92000"/>
                  </a:srgbClr>
                </a:solidFill>
                <a:latin typeface="Helvetica" pitchFamily="34" charset="0"/>
                <a:ea typeface="Helvetica" pitchFamily="34" charset="-122"/>
                <a:cs typeface="Helvetica" pitchFamily="34" charset="-120"/>
              </a:rPr>
              <a:t>For years — long before PHIERS became a movement — we referred to this vision simply as “The Prophecy.” The name remained because great movements often begin as ideas before they become institutions.</a:t>
            </a:r>
            <a:endParaRPr lang="en-US" sz="1950" dirty="0"/>
          </a:p>
        </p:txBody>
      </p:sp>
      <p:sp>
        <p:nvSpPr>
          <p:cNvPr id="8" name="Text 6"/>
          <p:cNvSpPr/>
          <p:nvPr/>
        </p:nvSpPr>
        <p:spPr>
          <a:xfrm>
            <a:off x="8482846" y="4466717"/>
            <a:ext cx="8431480" cy="1543869"/>
          </a:xfrm>
          <a:prstGeom prst="rect">
            <a:avLst/>
          </a:prstGeom>
          <a:noFill/>
          <a:ln/>
        </p:spPr>
        <p:txBody>
          <a:bodyPr wrap="square" lIns="25400" tIns="25400" rIns="25400" bIns="25400" rtlCol="0" anchor="t">
            <a:normAutofit/>
          </a:bodyPr>
          <a:lstStyle/>
          <a:p>
            <a:pPr algn="l" indent="0" marL="0">
              <a:lnSpc>
                <a:spcPct val="152000"/>
              </a:lnSpc>
              <a:buNone/>
            </a:pPr>
            <a:r>
              <a:rPr lang="en-US" sz="1950" dirty="0">
                <a:solidFill>
                  <a:srgbClr val="EFE9DC">
                    <a:alpha val="74000"/>
                  </a:srgbClr>
                </a:solidFill>
                <a:latin typeface="Helvetica" pitchFamily="34" charset="0"/>
                <a:ea typeface="Helvetica" pitchFamily="34" charset="-122"/>
                <a:cs typeface="Helvetica" pitchFamily="34" charset="-120"/>
              </a:rPr>
              <a:t>When we speak about race, it is never to divide people or elevate one group above another. It is to acknowledge the community from which this movement emerged — and the responsibility we believe comes with that history.</a:t>
            </a:r>
            <a:endParaRPr lang="en-US" sz="1950" dirty="0"/>
          </a:p>
        </p:txBody>
      </p:sp>
      <p:sp>
        <p:nvSpPr>
          <p:cNvPr id="9" name="Text 7"/>
          <p:cNvSpPr/>
          <p:nvPr/>
        </p:nvSpPr>
        <p:spPr>
          <a:xfrm>
            <a:off x="8482846" y="6181988"/>
            <a:ext cx="8431480" cy="1691270"/>
          </a:xfrm>
          <a:prstGeom prst="rect">
            <a:avLst/>
          </a:prstGeom>
          <a:noFill/>
          <a:ln/>
        </p:spPr>
        <p:txBody>
          <a:bodyPr wrap="square" lIns="25400" tIns="25400" rIns="25400" bIns="25400" rtlCol="0" anchor="t">
            <a:normAutofit/>
          </a:bodyPr>
          <a:lstStyle/>
          <a:p>
            <a:pPr algn="l" indent="0" marL="0">
              <a:lnSpc>
                <a:spcPct val="140000"/>
              </a:lnSpc>
              <a:buNone/>
            </a:pPr>
            <a:r>
              <a:rPr lang="en-US" sz="2325" dirty="0">
                <a:solidFill>
                  <a:srgbClr val="EFE9DC"/>
                </a:solidFill>
                <a:latin typeface="Georgia" pitchFamily="34" charset="0"/>
                <a:ea typeface="Georgia" pitchFamily="34" charset="-122"/>
                <a:cs typeface="Georgia" pitchFamily="34" charset="-120"/>
              </a:rPr>
              <a:t>When Black American men rise to our highest potential, everyone benefits. Stronger fathers build stronger families. Stronger families build stronger communities. Stronger communities build a stronger America.</a:t>
            </a:r>
            <a:endParaRPr lang="en-US" sz="2325" dirty="0"/>
          </a:p>
        </p:txBody>
      </p:sp>
      <p:sp>
        <p:nvSpPr>
          <p:cNvPr id="10" name="Text 8"/>
          <p:cNvSpPr/>
          <p:nvPr/>
        </p:nvSpPr>
        <p:spPr>
          <a:xfrm>
            <a:off x="8482846" y="8044659"/>
            <a:ext cx="8431480" cy="1167427"/>
          </a:xfrm>
          <a:prstGeom prst="rect">
            <a:avLst/>
          </a:prstGeom>
          <a:noFill/>
          <a:ln/>
        </p:spPr>
        <p:txBody>
          <a:bodyPr wrap="square" lIns="25400" tIns="25400" rIns="25400" bIns="25400" rtlCol="0" anchor="t">
            <a:normAutofit/>
          </a:bodyPr>
          <a:lstStyle/>
          <a:p>
            <a:pPr algn="l" indent="0" marL="0">
              <a:lnSpc>
                <a:spcPct val="152000"/>
              </a:lnSpc>
              <a:buNone/>
            </a:pPr>
            <a:r>
              <a:rPr lang="en-US" sz="1950" dirty="0">
                <a:solidFill>
                  <a:srgbClr val="EFE9DC">
                    <a:alpha val="74000"/>
                  </a:srgbClr>
                </a:solidFill>
                <a:latin typeface="Helvetica" pitchFamily="34" charset="0"/>
                <a:ea typeface="Helvetica" pitchFamily="34" charset="-122"/>
                <a:cs typeface="Helvetica" pitchFamily="34" charset="-120"/>
              </a:rPr>
              <a:t>If you are not the audience this document speaks to first, we still hope you’ll continue reading — because the future we are trying to build belongs to all of us.</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908"/>
        </a:solidFill>
      </p:bgPr>
    </p:bg>
    <p:spTree>
      <p:nvGrpSpPr>
        <p:cNvPr id="1" name=""/>
        <p:cNvGrpSpPr/>
        <p:nvPr/>
      </p:nvGrpSpPr>
      <p:grpSpPr>
        <a:xfrm>
          <a:off x="0" y="0"/>
          <a:ext cx="0" cy="0"/>
          <a:chOff x="0" y="0"/>
          <a:chExt cx="0" cy="0"/>
        </a:xfrm>
      </p:grpSpPr>
      <p:sp>
        <p:nvSpPr>
          <p:cNvPr id="2" name="Text 0"/>
          <p:cNvSpPr/>
          <p:nvPr/>
        </p:nvSpPr>
        <p:spPr>
          <a:xfrm>
            <a:off x="1904964" y="3246559"/>
            <a:ext cx="15925795" cy="295069"/>
          </a:xfrm>
          <a:prstGeom prst="rect">
            <a:avLst/>
          </a:prstGeom>
          <a:noFill/>
          <a:ln/>
        </p:spPr>
        <p:txBody>
          <a:bodyPr wrap="square" lIns="25400" tIns="25400" rIns="25400" bIns="25400" rtlCol="0" anchor="t">
            <a:normAutofit/>
          </a:bodyPr>
          <a:lstStyle/>
          <a:p>
            <a:pPr algn="l" indent="0" marL="0">
              <a:buNone/>
            </a:pPr>
            <a:r>
              <a:rPr lang="en-US" sz="1350" spc="459" kern="0" dirty="0">
                <a:solidFill>
                  <a:srgbClr val="B89160"/>
                </a:solidFill>
                <a:latin typeface="Courier New" pitchFamily="34" charset="0"/>
                <a:ea typeface="Courier New" pitchFamily="34" charset="-122"/>
                <a:cs typeface="Courier New" pitchFamily="34" charset="-120"/>
              </a:rPr>
              <a:t>🜂 TAKE A KNEE</a:t>
            </a:r>
            <a:endParaRPr lang="en-US" sz="1350" dirty="0"/>
          </a:p>
        </p:txBody>
      </p:sp>
      <p:sp>
        <p:nvSpPr>
          <p:cNvPr id="3" name="Text 1"/>
          <p:cNvSpPr/>
          <p:nvPr/>
        </p:nvSpPr>
        <p:spPr>
          <a:xfrm>
            <a:off x="1904964" y="3960719"/>
            <a:ext cx="13734975" cy="2098495"/>
          </a:xfrm>
          <a:prstGeom prst="rect">
            <a:avLst/>
          </a:prstGeom>
          <a:noFill/>
          <a:ln/>
        </p:spPr>
        <p:txBody>
          <a:bodyPr wrap="square" lIns="25400" tIns="25400" rIns="25400" bIns="25400" rtlCol="0" anchor="t">
            <a:normAutofit/>
          </a:bodyPr>
          <a:lstStyle/>
          <a:p>
            <a:pPr algn="l" indent="0" marL="0">
              <a:lnSpc>
                <a:spcPct val="104000"/>
              </a:lnSpc>
              <a:buNone/>
            </a:pPr>
            <a:r>
              <a:rPr lang="en-US" sz="7800" spc="-78" kern="0" dirty="0">
                <a:solidFill>
                  <a:srgbClr val="EFE9DC"/>
                </a:solidFill>
                <a:latin typeface="Georgia" pitchFamily="34" charset="0"/>
                <a:ea typeface="Georgia" pitchFamily="34" charset="-122"/>
                <a:cs typeface="Georgia" pitchFamily="34" charset="-120"/>
              </a:rPr>
              <a:t>We’ve been carrying weight a long time.</a:t>
            </a:r>
            <a:endParaRPr lang="en-US" sz="7800" dirty="0"/>
          </a:p>
        </p:txBody>
      </p:sp>
      <p:sp>
        <p:nvSpPr>
          <p:cNvPr id="4" name="Text 2"/>
          <p:cNvSpPr/>
          <p:nvPr/>
        </p:nvSpPr>
        <p:spPr>
          <a:xfrm>
            <a:off x="1904964" y="6554504"/>
            <a:ext cx="10267855" cy="523933"/>
          </a:xfrm>
          <a:prstGeom prst="rect">
            <a:avLst/>
          </a:prstGeom>
          <a:noFill/>
          <a:ln/>
        </p:spPr>
        <p:txBody>
          <a:bodyPr wrap="square" lIns="25400" tIns="25400" rIns="25400" bIns="25400" rtlCol="0" anchor="t">
            <a:normAutofit/>
          </a:bodyPr>
          <a:lstStyle/>
          <a:p>
            <a:pPr algn="l" indent="0" marL="0">
              <a:lnSpc>
                <a:spcPct val="150000"/>
              </a:lnSpc>
              <a:buNone/>
            </a:pPr>
            <a:r>
              <a:rPr lang="en-US" sz="2550" dirty="0">
                <a:solidFill>
                  <a:srgbClr val="EFE9DC">
                    <a:alpha val="60000"/>
                  </a:srgbClr>
                </a:solidFill>
                <a:latin typeface="Helvetica" pitchFamily="34" charset="0"/>
                <a:ea typeface="Helvetica" pitchFamily="34" charset="-122"/>
                <a:cs typeface="Helvetica" pitchFamily="34" charset="-120"/>
              </a:rPr>
              <a:t>Nobody’s coming to save us. We learned something from that.</a:t>
            </a:r>
            <a:endParaRPr lang="en-US" sz="2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E7DB"/>
        </a:solidFill>
      </p:bgPr>
    </p:bg>
    <p:spTree>
      <p:nvGrpSpPr>
        <p:cNvPr id="1" name=""/>
        <p:cNvGrpSpPr/>
        <p:nvPr/>
      </p:nvGrpSpPr>
      <p:grpSpPr>
        <a:xfrm>
          <a:off x="0" y="0"/>
          <a:ext cx="0" cy="0"/>
          <a:chOff x="0" y="0"/>
          <a:chExt cx="0" cy="0"/>
        </a:xfrm>
      </p:grpSpPr>
      <p:sp>
        <p:nvSpPr>
          <p:cNvPr id="2" name="Text 0"/>
          <p:cNvSpPr/>
          <p:nvPr/>
        </p:nvSpPr>
        <p:spPr>
          <a:xfrm>
            <a:off x="1904964" y="3226661"/>
            <a:ext cx="15925795" cy="295069"/>
          </a:xfrm>
          <a:prstGeom prst="rect">
            <a:avLst/>
          </a:prstGeom>
          <a:noFill/>
          <a:ln/>
        </p:spPr>
        <p:txBody>
          <a:bodyPr wrap="square" lIns="25400" tIns="25400" rIns="25400" bIns="25400" rtlCol="0" anchor="t">
            <a:normAutofit/>
          </a:bodyPr>
          <a:lstStyle/>
          <a:p>
            <a:pPr algn="l" indent="0" marL="0">
              <a:buNone/>
            </a:pPr>
            <a:r>
              <a:rPr lang="en-US" sz="1350" spc="459" kern="0" dirty="0">
                <a:solidFill>
                  <a:srgbClr val="9A7438"/>
                </a:solidFill>
                <a:latin typeface="Courier New" pitchFamily="34" charset="0"/>
                <a:ea typeface="Courier New" pitchFamily="34" charset="-122"/>
                <a:cs typeface="Courier New" pitchFamily="34" charset="-120"/>
              </a:rPr>
              <a:t>🜂 WHAT WE LEARNED</a:t>
            </a:r>
            <a:endParaRPr lang="en-US" sz="1350" dirty="0"/>
          </a:p>
        </p:txBody>
      </p:sp>
      <p:sp>
        <p:nvSpPr>
          <p:cNvPr id="3" name="Text 1"/>
          <p:cNvSpPr/>
          <p:nvPr/>
        </p:nvSpPr>
        <p:spPr>
          <a:xfrm>
            <a:off x="1904964" y="3940822"/>
            <a:ext cx="13931186" cy="2095461"/>
          </a:xfrm>
          <a:prstGeom prst="rect">
            <a:avLst/>
          </a:prstGeom>
          <a:noFill/>
          <a:ln/>
        </p:spPr>
        <p:txBody>
          <a:bodyPr wrap="square" lIns="25400" tIns="25400" rIns="25400" bIns="25400" rtlCol="0" anchor="t">
            <a:normAutofit/>
          </a:bodyPr>
          <a:lstStyle/>
          <a:p>
            <a:pPr algn="l" indent="0" marL="0">
              <a:lnSpc>
                <a:spcPct val="100000"/>
              </a:lnSpc>
              <a:buNone/>
            </a:pPr>
            <a:r>
              <a:rPr lang="en-US" sz="8100" b="1" spc="-122" kern="0" dirty="0">
                <a:solidFill>
                  <a:srgbClr val="16120B"/>
                </a:solidFill>
                <a:latin typeface="Georgia" pitchFamily="34" charset="0"/>
                <a:ea typeface="Georgia" pitchFamily="34" charset="-122"/>
                <a:cs typeface="Georgia" pitchFamily="34" charset="-120"/>
              </a:rPr>
              <a:t>Power doesn’t come from shouting louder.</a:t>
            </a:r>
            <a:endParaRPr lang="en-US" sz="8100" dirty="0"/>
          </a:p>
        </p:txBody>
      </p:sp>
      <p:sp>
        <p:nvSpPr>
          <p:cNvPr id="4" name="Text 2"/>
          <p:cNvSpPr/>
          <p:nvPr/>
        </p:nvSpPr>
        <p:spPr>
          <a:xfrm>
            <a:off x="1904964" y="6417275"/>
            <a:ext cx="12363413" cy="681059"/>
          </a:xfrm>
          <a:prstGeom prst="rect">
            <a:avLst/>
          </a:prstGeom>
          <a:noFill/>
          <a:ln/>
        </p:spPr>
        <p:txBody>
          <a:bodyPr wrap="square" lIns="25400" tIns="25400" rIns="25400" bIns="25400" rtlCol="0" anchor="t">
            <a:normAutofit/>
          </a:bodyPr>
          <a:lstStyle/>
          <a:p>
            <a:pPr algn="l" indent="0" marL="0">
              <a:lnSpc>
                <a:spcPct val="125000"/>
              </a:lnSpc>
              <a:buNone/>
            </a:pPr>
            <a:r>
              <a:rPr lang="en-US" sz="4050" i="1" dirty="0">
                <a:solidFill>
                  <a:srgbClr val="16120B">
                    <a:alpha val="66000"/>
                  </a:srgbClr>
                </a:solidFill>
                <a:latin typeface="Georgia" pitchFamily="34" charset="0"/>
                <a:ea typeface="Georgia" pitchFamily="34" charset="-122"/>
                <a:cs typeface="Georgia" pitchFamily="34" charset="-120"/>
              </a:rPr>
              <a:t>It comes from enough disciplined people moving together.</a:t>
            </a:r>
            <a:endParaRPr lang="en-US" sz="4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90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23926" r="23926" t="0" b="0"/>
          <a:stretch/>
        </p:blipFill>
        <p:spPr>
          <a:xfrm>
            <a:off x="0" y="0"/>
            <a:ext cx="8046622" cy="10286985"/>
          </a:xfrm>
          <a:prstGeom prst="rect">
            <a:avLst/>
          </a:prstGeom>
        </p:spPr>
      </p:pic>
      <p:sp>
        <p:nvSpPr>
          <p:cNvPr id="3" name="Shape 0"/>
          <p:cNvSpPr/>
          <p:nvPr/>
        </p:nvSpPr>
        <p:spPr>
          <a:xfrm>
            <a:off x="0" y="0"/>
            <a:ext cx="8046622" cy="10286985"/>
          </a:xfrm>
          <a:prstGeom prst="rect">
            <a:avLst/>
          </a:prstGeom>
          <a:gradFill rotWithShape="1">
            <a:gsLst>
              <a:gs pos="70000">
                <a:srgbClr val="0A0908">
                  <a:alpha val="0"/>
                </a:srgbClr>
              </a:gs>
              <a:gs pos="100000">
                <a:srgbClr val="0A0908">
                  <a:alpha val="90000"/>
                </a:srgbClr>
              </a:gs>
            </a:gsLst>
            <a:lin ang="0" scaled="0"/>
          </a:gradFill>
          <a:ln/>
        </p:spPr>
      </p:sp>
      <p:sp>
        <p:nvSpPr>
          <p:cNvPr id="4" name="Text 1"/>
          <p:cNvSpPr/>
          <p:nvPr/>
        </p:nvSpPr>
        <p:spPr>
          <a:xfrm>
            <a:off x="9094308" y="2671411"/>
            <a:ext cx="8960523" cy="295069"/>
          </a:xfrm>
          <a:prstGeom prst="rect">
            <a:avLst/>
          </a:prstGeom>
          <a:noFill/>
          <a:ln/>
        </p:spPr>
        <p:txBody>
          <a:bodyPr wrap="square" lIns="25400" tIns="25400" rIns="25400" bIns="25400" rtlCol="0" anchor="t">
            <a:normAutofit/>
          </a:bodyPr>
          <a:lstStyle/>
          <a:p>
            <a:pPr algn="l" indent="0" marL="0">
              <a:buNone/>
            </a:pPr>
            <a:r>
              <a:rPr lang="en-US" sz="1350" spc="459" kern="0" dirty="0">
                <a:solidFill>
                  <a:srgbClr val="B89160"/>
                </a:solidFill>
                <a:latin typeface="Courier New" pitchFamily="34" charset="0"/>
                <a:ea typeface="Courier New" pitchFamily="34" charset="-122"/>
                <a:cs typeface="Courier New" pitchFamily="34" charset="-120"/>
              </a:rPr>
              <a:t>🜂 NOT NOISE — STRUCTURE</a:t>
            </a:r>
            <a:endParaRPr lang="en-US" sz="1350" dirty="0"/>
          </a:p>
        </p:txBody>
      </p:sp>
      <p:sp>
        <p:nvSpPr>
          <p:cNvPr id="5" name="Text 2"/>
          <p:cNvSpPr/>
          <p:nvPr/>
        </p:nvSpPr>
        <p:spPr>
          <a:xfrm>
            <a:off x="9094308" y="3366478"/>
            <a:ext cx="8390308" cy="2438355"/>
          </a:xfrm>
          <a:prstGeom prst="rect">
            <a:avLst/>
          </a:prstGeom>
          <a:noFill/>
          <a:ln/>
        </p:spPr>
        <p:txBody>
          <a:bodyPr wrap="square" lIns="25400" tIns="25400" rIns="25400" bIns="25400" rtlCol="0" anchor="t">
            <a:normAutofit/>
          </a:bodyPr>
          <a:lstStyle/>
          <a:p>
            <a:pPr algn="l" indent="0" marL="0">
              <a:lnSpc>
                <a:spcPct val="105000"/>
              </a:lnSpc>
              <a:buNone/>
            </a:pPr>
            <a:r>
              <a:rPr lang="en-US" sz="6000" spc="-60" kern="0" dirty="0">
                <a:solidFill>
                  <a:srgbClr val="EFE9DC"/>
                </a:solidFill>
                <a:latin typeface="Georgia" pitchFamily="34" charset="0"/>
                <a:ea typeface="Georgia" pitchFamily="34" charset="-122"/>
                <a:cs typeface="Georgia" pitchFamily="34" charset="-120"/>
              </a:rPr>
              <a:t>Not a protest. Not a political party. </a:t>
            </a:r>
            <a:pPr algn="l" indent="0" marL="0">
              <a:lnSpc>
                <a:spcPct val="105000"/>
              </a:lnSpc>
              <a:buNone/>
            </a:pPr>
            <a:r>
              <a:rPr lang="en-US" sz="6000" spc="-60" kern="0" dirty="0">
                <a:solidFill>
                  <a:srgbClr val="B89160"/>
                </a:solidFill>
                <a:latin typeface="Georgia" pitchFamily="34" charset="0"/>
                <a:ea typeface="Georgia" pitchFamily="34" charset="-122"/>
                <a:cs typeface="Georgia" pitchFamily="34" charset="-120"/>
              </a:rPr>
              <a:t>A structure.</a:t>
            </a:r>
            <a:endParaRPr lang="en-US" sz="6000" dirty="0"/>
          </a:p>
        </p:txBody>
      </p:sp>
      <p:sp>
        <p:nvSpPr>
          <p:cNvPr id="6" name="Text 3"/>
          <p:cNvSpPr/>
          <p:nvPr/>
        </p:nvSpPr>
        <p:spPr>
          <a:xfrm>
            <a:off x="9094308" y="6242929"/>
            <a:ext cx="7063699" cy="1410745"/>
          </a:xfrm>
          <a:prstGeom prst="rect">
            <a:avLst/>
          </a:prstGeom>
          <a:noFill/>
          <a:ln/>
        </p:spPr>
        <p:txBody>
          <a:bodyPr wrap="square" lIns="25400" tIns="25400" rIns="25400" bIns="25400" rtlCol="0" anchor="t">
            <a:normAutofit/>
          </a:bodyPr>
          <a:lstStyle/>
          <a:p>
            <a:pPr algn="l" indent="0" marL="0">
              <a:lnSpc>
                <a:spcPct val="155000"/>
              </a:lnSpc>
              <a:buNone/>
            </a:pPr>
            <a:r>
              <a:rPr lang="en-US" sz="2325" dirty="0">
                <a:solidFill>
                  <a:srgbClr val="EFE9DC">
                    <a:alpha val="62000"/>
                  </a:srgbClr>
                </a:solidFill>
                <a:latin typeface="Helvetica" pitchFamily="34" charset="0"/>
                <a:ea typeface="Helvetica" pitchFamily="34" charset="-122"/>
                <a:cs typeface="Helvetica" pitchFamily="34" charset="-120"/>
              </a:rPr>
              <a:t>A structure that helps men get whole, build leverage, and solve problems together. When we get whole, everybody wins.</a:t>
            </a:r>
            <a:endParaRPr lang="en-US" sz="23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908"/>
        </a:solidFill>
      </p:bgPr>
    </p:bg>
    <p:spTree>
      <p:nvGrpSpPr>
        <p:cNvPr id="1" name=""/>
        <p:cNvGrpSpPr/>
        <p:nvPr/>
      </p:nvGrpSpPr>
      <p:grpSpPr>
        <a:xfrm>
          <a:off x="0" y="0"/>
          <a:ext cx="0" cy="0"/>
          <a:chOff x="0" y="0"/>
          <a:chExt cx="0" cy="0"/>
        </a:xfrm>
      </p:grpSpPr>
      <p:sp>
        <p:nvSpPr>
          <p:cNvPr id="2" name="Text 0"/>
          <p:cNvSpPr/>
          <p:nvPr/>
        </p:nvSpPr>
        <p:spPr>
          <a:xfrm>
            <a:off x="6893561" y="4244099"/>
            <a:ext cx="4950783" cy="1836886"/>
          </a:xfrm>
          <a:prstGeom prst="rect">
            <a:avLst/>
          </a:prstGeom>
          <a:noFill/>
          <a:ln/>
        </p:spPr>
        <p:txBody>
          <a:bodyPr wrap="square" lIns="25400" tIns="25400" rIns="25400" bIns="25400" rtlCol="0" anchor="t">
            <a:normAutofit/>
          </a:bodyPr>
          <a:lstStyle/>
          <a:p>
            <a:pPr algn="l" indent="0" marL="0">
              <a:buNone/>
            </a:pPr>
            <a:r>
              <a:rPr lang="en-US" sz="11700" spc="-117" kern="0" dirty="0">
                <a:solidFill>
                  <a:srgbClr val="EFE9DC"/>
                </a:solidFill>
                <a:latin typeface="Georgia" pitchFamily="34" charset="0"/>
                <a:ea typeface="Georgia" pitchFamily="34" charset="-122"/>
                <a:cs typeface="Georgia" pitchFamily="34" charset="-120"/>
              </a:rPr>
              <a:t>Choose.</a:t>
            </a:r>
            <a:endParaRPr lang="en-US" sz="1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908"/>
        </a:solidFill>
      </p:bgPr>
    </p:bg>
    <p:spTree>
      <p:nvGrpSpPr>
        <p:cNvPr id="1" name=""/>
        <p:cNvGrpSpPr/>
        <p:nvPr/>
      </p:nvGrpSpPr>
      <p:grpSpPr>
        <a:xfrm>
          <a:off x="0" y="0"/>
          <a:ext cx="0" cy="0"/>
          <a:chOff x="0" y="0"/>
          <a:chExt cx="0" cy="0"/>
        </a:xfrm>
      </p:grpSpPr>
      <p:sp>
        <p:nvSpPr>
          <p:cNvPr id="2" name="Shape 0"/>
          <p:cNvSpPr/>
          <p:nvPr/>
        </p:nvSpPr>
        <p:spPr>
          <a:xfrm>
            <a:off x="8858217" y="3175981"/>
            <a:ext cx="571489" cy="9525"/>
          </a:xfrm>
          <a:prstGeom prst="rect">
            <a:avLst/>
          </a:prstGeom>
          <a:solidFill>
            <a:srgbClr val="B89160"/>
          </a:solidFill>
          <a:ln/>
        </p:spPr>
      </p:sp>
      <p:sp>
        <p:nvSpPr>
          <p:cNvPr id="3" name="Text 1"/>
          <p:cNvSpPr/>
          <p:nvPr/>
        </p:nvSpPr>
        <p:spPr>
          <a:xfrm>
            <a:off x="3721631" y="3756928"/>
            <a:ext cx="10844573" cy="1027521"/>
          </a:xfrm>
          <a:prstGeom prst="rect">
            <a:avLst/>
          </a:prstGeom>
          <a:noFill/>
          <a:ln/>
        </p:spPr>
        <p:txBody>
          <a:bodyPr wrap="square" lIns="25400" tIns="25400" rIns="25400" bIns="25400" rtlCol="0" anchor="t">
            <a:normAutofit/>
          </a:bodyPr>
          <a:lstStyle/>
          <a:p>
            <a:pPr algn="ctr" indent="0" marL="0">
              <a:lnSpc>
                <a:spcPct val="106000"/>
              </a:lnSpc>
              <a:buNone/>
            </a:pPr>
            <a:r>
              <a:rPr lang="en-US" sz="7350" spc="-73" kern="0" dirty="0">
                <a:solidFill>
                  <a:srgbClr val="EFE9DC"/>
                </a:solidFill>
                <a:latin typeface="Georgia" pitchFamily="34" charset="0"/>
                <a:ea typeface="Georgia" pitchFamily="34" charset="-122"/>
                <a:cs typeface="Georgia" pitchFamily="34" charset="-120"/>
              </a:rPr>
              <a:t>No one can build this </a:t>
            </a:r>
            <a:pPr algn="ctr" indent="0" marL="0">
              <a:lnSpc>
                <a:spcPct val="106000"/>
              </a:lnSpc>
              <a:buNone/>
            </a:pPr>
            <a:r>
              <a:rPr lang="en-US" sz="7350" i="1" spc="-73" kern="0" dirty="0">
                <a:solidFill>
                  <a:srgbClr val="CDBF9A"/>
                </a:solidFill>
                <a:latin typeface="Georgia" pitchFamily="34" charset="0"/>
                <a:ea typeface="Georgia" pitchFamily="34" charset="-122"/>
                <a:cs typeface="Georgia" pitchFamily="34" charset="-120"/>
              </a:rPr>
              <a:t>for us.</a:t>
            </a:r>
            <a:endParaRPr lang="en-US" sz="7350" dirty="0"/>
          </a:p>
        </p:txBody>
      </p:sp>
      <p:sp>
        <p:nvSpPr>
          <p:cNvPr id="4" name="Text 2"/>
          <p:cNvSpPr/>
          <p:nvPr/>
        </p:nvSpPr>
        <p:spPr>
          <a:xfrm>
            <a:off x="3355636" y="5146348"/>
            <a:ext cx="11576650" cy="1212307"/>
          </a:xfrm>
          <a:prstGeom prst="rect">
            <a:avLst/>
          </a:prstGeom>
          <a:noFill/>
          <a:ln/>
        </p:spPr>
        <p:txBody>
          <a:bodyPr wrap="square" lIns="25400" tIns="25400" rIns="25400" bIns="25400" rtlCol="0" anchor="t">
            <a:normAutofit/>
          </a:bodyPr>
          <a:lstStyle/>
          <a:p>
            <a:pPr algn="ctr" indent="0" marL="0">
              <a:lnSpc>
                <a:spcPct val="134000"/>
              </a:lnSpc>
              <a:buNone/>
            </a:pPr>
            <a:r>
              <a:rPr lang="en-US" sz="3450" dirty="0">
                <a:solidFill>
                  <a:srgbClr val="EFE9DC">
                    <a:alpha val="70000"/>
                  </a:srgbClr>
                </a:solidFill>
                <a:latin typeface="Georgia" pitchFamily="34" charset="0"/>
                <a:ea typeface="Georgia" pitchFamily="34" charset="-122"/>
                <a:cs typeface="Georgia" pitchFamily="34" charset="-120"/>
              </a:rPr>
              <a:t>What becomes possible depends on how many of us choose to build it.</a:t>
            </a:r>
            <a:endParaRPr lang="en-US" sz="3450" dirty="0"/>
          </a:p>
        </p:txBody>
      </p:sp>
      <p:sp>
        <p:nvSpPr>
          <p:cNvPr id="5" name="Text 3"/>
          <p:cNvSpPr/>
          <p:nvPr/>
        </p:nvSpPr>
        <p:spPr>
          <a:xfrm>
            <a:off x="7178596" y="6853945"/>
            <a:ext cx="3930731" cy="295069"/>
          </a:xfrm>
          <a:prstGeom prst="rect">
            <a:avLst/>
          </a:prstGeom>
          <a:noFill/>
          <a:ln/>
        </p:spPr>
        <p:txBody>
          <a:bodyPr wrap="square" lIns="25400" tIns="25400" rIns="25400" bIns="25400" rtlCol="0" anchor="t">
            <a:normAutofit/>
          </a:bodyPr>
          <a:lstStyle/>
          <a:p>
            <a:pPr algn="ctr" indent="0" marL="0">
              <a:buNone/>
            </a:pPr>
            <a:r>
              <a:rPr lang="en-US" sz="1350" spc="216" kern="0" dirty="0">
                <a:solidFill>
                  <a:srgbClr val="EFE9DC">
                    <a:alpha val="46000"/>
                  </a:srgbClr>
                </a:solidFill>
                <a:latin typeface="Courier New" pitchFamily="34" charset="0"/>
                <a:ea typeface="Courier New" pitchFamily="34" charset="-122"/>
                <a:cs typeface="Courier New" pitchFamily="34" charset="-120"/>
              </a:rPr>
              <a:t>PARTICIPATION IS VOLUNTARY.</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90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6000"/>
          </a:blip>
          <a:stretch>
            <a:fillRect/>
          </a:stretch>
        </p:blipFill>
        <p:spPr>
          <a:xfrm>
            <a:off x="5524441" y="2419349"/>
            <a:ext cx="7238953" cy="5448287"/>
          </a:xfrm>
          <a:prstGeom prst="rect">
            <a:avLst/>
          </a:prstGeom>
        </p:spPr>
      </p:pic>
      <p:sp>
        <p:nvSpPr>
          <p:cNvPr id="3" name="Text 0"/>
          <p:cNvSpPr/>
          <p:nvPr/>
        </p:nvSpPr>
        <p:spPr>
          <a:xfrm>
            <a:off x="1736489" y="3631031"/>
            <a:ext cx="14814856" cy="300780"/>
          </a:xfrm>
          <a:prstGeom prst="rect">
            <a:avLst/>
          </a:prstGeom>
          <a:noFill/>
          <a:ln/>
        </p:spPr>
        <p:txBody>
          <a:bodyPr wrap="square" lIns="25400" tIns="25400" rIns="25400" bIns="25400" rtlCol="0" anchor="t">
            <a:normAutofit/>
          </a:bodyPr>
          <a:lstStyle/>
          <a:p>
            <a:pPr algn="ctr" indent="0" marL="0">
              <a:buNone/>
            </a:pPr>
            <a:r>
              <a:rPr lang="en-US" sz="1425" spc="570" kern="0" dirty="0">
                <a:solidFill>
                  <a:srgbClr val="B89160"/>
                </a:solidFill>
                <a:latin typeface="Courier New" pitchFamily="34" charset="0"/>
                <a:ea typeface="Courier New" pitchFamily="34" charset="-122"/>
                <a:cs typeface="Courier New" pitchFamily="34" charset="-120"/>
              </a:rPr>
              <a:t>🜂 THE PROPHECY · WHY WE’RE HERE</a:t>
            </a:r>
            <a:endParaRPr lang="en-US" sz="1425" dirty="0"/>
          </a:p>
        </p:txBody>
      </p:sp>
      <p:sp>
        <p:nvSpPr>
          <p:cNvPr id="4" name="Text 1"/>
          <p:cNvSpPr/>
          <p:nvPr/>
        </p:nvSpPr>
        <p:spPr>
          <a:xfrm>
            <a:off x="2207870" y="4408007"/>
            <a:ext cx="13872093" cy="2286047"/>
          </a:xfrm>
          <a:prstGeom prst="rect">
            <a:avLst/>
          </a:prstGeom>
          <a:noFill/>
          <a:ln/>
        </p:spPr>
        <p:txBody>
          <a:bodyPr wrap="square" lIns="25400" tIns="25400" rIns="25400" bIns="25400" rtlCol="0" anchor="t">
            <a:normAutofit/>
          </a:bodyPr>
          <a:lstStyle/>
          <a:p>
            <a:pPr algn="ctr" indent="0" marL="0">
              <a:lnSpc>
                <a:spcPct val="100000"/>
              </a:lnSpc>
              <a:buNone/>
            </a:pPr>
            <a:r>
              <a:rPr lang="en-US" sz="8850" spc="-88" kern="0" dirty="0">
                <a:solidFill>
                  <a:srgbClr val="EFE9DC"/>
                </a:solidFill>
                <a:latin typeface="Georgia" pitchFamily="34" charset="0"/>
                <a:ea typeface="Georgia" pitchFamily="34" charset="-122"/>
                <a:cs typeface="Georgia" pitchFamily="34" charset="-120"/>
              </a:rPr>
              <a:t>The prophecy wasn’t metaphor. </a:t>
            </a:r>
            <a:pPr algn="ctr" indent="0" marL="0">
              <a:lnSpc>
                <a:spcPct val="100000"/>
              </a:lnSpc>
              <a:buNone/>
            </a:pPr>
            <a:r>
              <a:rPr lang="en-US" sz="8850" i="1" spc="-88" kern="0" dirty="0">
                <a:solidFill>
                  <a:srgbClr val="CDBF9A"/>
                </a:solidFill>
                <a:latin typeface="Georgia" pitchFamily="34" charset="0"/>
                <a:ea typeface="Georgia" pitchFamily="34" charset="-122"/>
                <a:cs typeface="Georgia" pitchFamily="34" charset="-120"/>
              </a:rPr>
              <a:t>It was a timeline.</a:t>
            </a:r>
            <a:endParaRPr lang="en-US" sz="8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908"/>
        </a:solidFill>
      </p:bgPr>
    </p:bg>
    <p:spTree>
      <p:nvGrpSpPr>
        <p:cNvPr id="1" name=""/>
        <p:cNvGrpSpPr/>
        <p:nvPr/>
      </p:nvGrpSpPr>
      <p:grpSpPr>
        <a:xfrm>
          <a:off x="0" y="0"/>
          <a:ext cx="0" cy="0"/>
          <a:chOff x="0" y="0"/>
          <a:chExt cx="0" cy="0"/>
        </a:xfrm>
      </p:grpSpPr>
      <p:sp>
        <p:nvSpPr>
          <p:cNvPr id="2" name="Text 0"/>
          <p:cNvSpPr/>
          <p:nvPr/>
        </p:nvSpPr>
        <p:spPr>
          <a:xfrm>
            <a:off x="7421517" y="1958410"/>
            <a:ext cx="3444800" cy="295069"/>
          </a:xfrm>
          <a:prstGeom prst="rect">
            <a:avLst/>
          </a:prstGeom>
          <a:noFill/>
          <a:ln/>
        </p:spPr>
        <p:txBody>
          <a:bodyPr wrap="none" lIns="25400" tIns="25400" rIns="25400" bIns="25400" rtlCol="0" anchor="t">
            <a:normAutofit/>
          </a:bodyPr>
          <a:lstStyle/>
          <a:p>
            <a:pPr algn="ctr" indent="0" marL="0">
              <a:buNone/>
            </a:pPr>
            <a:r>
              <a:rPr lang="en-US" sz="1350" spc="459" kern="0" dirty="0">
                <a:solidFill>
                  <a:srgbClr val="B89160"/>
                </a:solidFill>
                <a:latin typeface="Courier New" pitchFamily="34" charset="0"/>
                <a:ea typeface="Courier New" pitchFamily="34" charset="-122"/>
                <a:cs typeface="Courier New" pitchFamily="34" charset="-120"/>
              </a:rPr>
              <a:t>🜂 GENESIS 15:13–14</a:t>
            </a:r>
            <a:endParaRPr lang="en-US" sz="1350" dirty="0"/>
          </a:p>
        </p:txBody>
      </p:sp>
      <p:sp>
        <p:nvSpPr>
          <p:cNvPr id="3" name="Shape 1"/>
          <p:cNvSpPr/>
          <p:nvPr/>
        </p:nvSpPr>
        <p:spPr>
          <a:xfrm>
            <a:off x="6373823" y="2577278"/>
            <a:ext cx="5540189" cy="3124141"/>
          </a:xfrm>
          <a:prstGeom prst="rect">
            <a:avLst/>
          </a:prstGeom>
          <a:ln w="5710">
            <a:solidFill>
              <a:srgbClr val="B89160">
                <a:alpha val="45000"/>
              </a:srgbClr>
            </a:solidFill>
            <a:prstDash val="solid"/>
          </a:ln>
          <a:effectLst>
            <a:outerShdw sx="100000" sy="100000" kx="0" ky="0" algn="bl" rotWithShape="0" blurRad="666750" dist="285750" dir="5400000">
              <a:srgbClr val="000000">
                <a:alpha val="50000"/>
              </a:srgbClr>
            </a:outerShdw>
          </a:effectLst>
        </p:spPr>
      </p:sp>
      <p:pic>
        <p:nvPicPr>
          <p:cNvPr id="4" name="Image 0" descr="preencoded.png">    </p:cNvPr>
          <p:cNvPicPr>
            <a:picLocks noChangeAspect="1"/>
          </p:cNvPicPr>
          <p:nvPr/>
        </p:nvPicPr>
        <p:blipFill>
          <a:blip r:embed="rId1"/>
          <a:srcRect l="0" r="0" t="-80" b="-80"/>
          <a:stretch/>
        </p:blipFill>
        <p:spPr>
          <a:xfrm>
            <a:off x="6373823" y="2577278"/>
            <a:ext cx="5540189" cy="3124141"/>
          </a:xfrm>
          <a:prstGeom prst="rect">
            <a:avLst/>
          </a:prstGeom>
        </p:spPr>
      </p:pic>
      <p:sp>
        <p:nvSpPr>
          <p:cNvPr id="5" name="Text 2"/>
          <p:cNvSpPr/>
          <p:nvPr/>
        </p:nvSpPr>
        <p:spPr>
          <a:xfrm>
            <a:off x="3061275" y="6139517"/>
            <a:ext cx="12165284" cy="1646300"/>
          </a:xfrm>
          <a:prstGeom prst="rect">
            <a:avLst/>
          </a:prstGeom>
          <a:noFill/>
          <a:ln/>
        </p:spPr>
        <p:txBody>
          <a:bodyPr wrap="square" lIns="25400" tIns="25400" rIns="25400" bIns="25400" rtlCol="0" anchor="t">
            <a:normAutofit/>
          </a:bodyPr>
          <a:lstStyle/>
          <a:p>
            <a:pPr algn="ctr" indent="0" marL="0">
              <a:lnSpc>
                <a:spcPct val="134000"/>
              </a:lnSpc>
              <a:buNone/>
            </a:pPr>
            <a:r>
              <a:rPr lang="en-US" sz="3150" i="1" dirty="0">
                <a:solidFill>
                  <a:srgbClr val="EFE9DC"/>
                </a:solidFill>
                <a:latin typeface="Georgia" pitchFamily="34" charset="0"/>
                <a:ea typeface="Georgia" pitchFamily="34" charset="-122"/>
                <a:cs typeface="Georgia" pitchFamily="34" charset="-120"/>
              </a:rPr>
              <a:t>“Know for certain that your descendants will be strangers in a land not their own… where they will be enslaved and mistreated for four hundred years. But afterward, they will leave with great substance.”</a:t>
            </a:r>
            <a:endParaRPr lang="en-US" sz="3150" dirty="0"/>
          </a:p>
        </p:txBody>
      </p:sp>
      <p:sp>
        <p:nvSpPr>
          <p:cNvPr id="6" name="Text 3"/>
          <p:cNvSpPr/>
          <p:nvPr/>
        </p:nvSpPr>
        <p:spPr>
          <a:xfrm>
            <a:off x="5424887" y="8071516"/>
            <a:ext cx="7438149" cy="295069"/>
          </a:xfrm>
          <a:prstGeom prst="rect">
            <a:avLst/>
          </a:prstGeom>
          <a:noFill/>
          <a:ln/>
        </p:spPr>
        <p:txBody>
          <a:bodyPr wrap="square" lIns="25400" tIns="25400" rIns="25400" bIns="25400" rtlCol="0" anchor="t">
            <a:normAutofit/>
          </a:bodyPr>
          <a:lstStyle/>
          <a:p>
            <a:pPr algn="ctr" indent="0" marL="0">
              <a:buNone/>
            </a:pPr>
            <a:r>
              <a:rPr lang="en-US" sz="1350" spc="108" kern="0" dirty="0">
                <a:solidFill>
                  <a:srgbClr val="B89160"/>
                </a:solidFill>
                <a:latin typeface="Courier New" pitchFamily="34" charset="0"/>
                <a:ea typeface="Courier New" pitchFamily="34" charset="-122"/>
                <a:cs typeface="Courier New" pitchFamily="34" charset="-120"/>
              </a:rPr>
              <a:t>Substance becomes leverage. · Leverage becomes respect.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E7DB"/>
        </a:solidFill>
      </p:bgPr>
    </p:bg>
    <p:spTree>
      <p:nvGrpSpPr>
        <p:cNvPr id="1" name=""/>
        <p:cNvGrpSpPr/>
        <p:nvPr/>
      </p:nvGrpSpPr>
      <p:grpSpPr>
        <a:xfrm>
          <a:off x="0" y="0"/>
          <a:ext cx="0" cy="0"/>
          <a:chOff x="0" y="0"/>
          <a:chExt cx="0" cy="0"/>
        </a:xfrm>
      </p:grpSpPr>
      <p:sp>
        <p:nvSpPr>
          <p:cNvPr id="2" name="Text 0"/>
          <p:cNvSpPr/>
          <p:nvPr/>
        </p:nvSpPr>
        <p:spPr>
          <a:xfrm>
            <a:off x="1619175" y="2755908"/>
            <a:ext cx="16554531" cy="295069"/>
          </a:xfrm>
          <a:prstGeom prst="rect">
            <a:avLst/>
          </a:prstGeom>
          <a:noFill/>
          <a:ln/>
        </p:spPr>
        <p:txBody>
          <a:bodyPr wrap="square" lIns="25400" tIns="25400" rIns="25400" bIns="25400" rtlCol="0" anchor="t">
            <a:normAutofit/>
          </a:bodyPr>
          <a:lstStyle/>
          <a:p>
            <a:pPr algn="l" indent="0" marL="0">
              <a:buNone/>
            </a:pPr>
            <a:r>
              <a:rPr lang="en-US" sz="1350" spc="459" kern="0" dirty="0">
                <a:solidFill>
                  <a:srgbClr val="9A7438"/>
                </a:solidFill>
                <a:latin typeface="Courier New" pitchFamily="34" charset="0"/>
                <a:ea typeface="Courier New" pitchFamily="34" charset="-122"/>
                <a:cs typeface="Courier New" pitchFamily="34" charset="-120"/>
              </a:rPr>
              <a:t>🜂 FOUR HUNDRED YEARS</a:t>
            </a:r>
            <a:endParaRPr lang="en-US" sz="1350" dirty="0"/>
          </a:p>
        </p:txBody>
      </p:sp>
      <p:sp>
        <p:nvSpPr>
          <p:cNvPr id="3" name="Text 1"/>
          <p:cNvSpPr/>
          <p:nvPr/>
        </p:nvSpPr>
        <p:spPr>
          <a:xfrm>
            <a:off x="1619175" y="3527173"/>
            <a:ext cx="16554531" cy="658128"/>
          </a:xfrm>
          <a:prstGeom prst="rect">
            <a:avLst/>
          </a:prstGeom>
          <a:noFill/>
          <a:ln/>
        </p:spPr>
        <p:txBody>
          <a:bodyPr wrap="square" lIns="25400" tIns="25400" rIns="25400" bIns="25400" rtlCol="0" anchor="t">
            <a:normAutofit/>
          </a:bodyPr>
          <a:lstStyle/>
          <a:p>
            <a:pPr algn="l" indent="0" marL="0">
              <a:lnSpc>
                <a:spcPct val="105000"/>
              </a:lnSpc>
              <a:buNone/>
            </a:pPr>
            <a:r>
              <a:rPr lang="en-US" sz="4650" dirty="0">
                <a:solidFill>
                  <a:srgbClr val="16120B"/>
                </a:solidFill>
                <a:latin typeface="Georgia" pitchFamily="34" charset="0"/>
                <a:ea typeface="Georgia" pitchFamily="34" charset="-122"/>
                <a:cs typeface="Georgia" pitchFamily="34" charset="-120"/>
              </a:rPr>
              <a:t>Endurance turned into </a:t>
            </a:r>
            <a:pPr algn="l" indent="0" marL="0">
              <a:lnSpc>
                <a:spcPct val="105000"/>
              </a:lnSpc>
              <a:buNone/>
            </a:pPr>
            <a:r>
              <a:rPr lang="en-US" sz="4650" i="1" dirty="0">
                <a:solidFill>
                  <a:srgbClr val="9A7438"/>
                </a:solidFill>
                <a:latin typeface="Georgia" pitchFamily="34" charset="0"/>
                <a:ea typeface="Georgia" pitchFamily="34" charset="-122"/>
                <a:cs typeface="Georgia" pitchFamily="34" charset="-120"/>
              </a:rPr>
              <a:t>structure.</a:t>
            </a:r>
            <a:endParaRPr lang="en-US" sz="4650" dirty="0"/>
          </a:p>
        </p:txBody>
      </p:sp>
      <p:sp>
        <p:nvSpPr>
          <p:cNvPr id="4" name="Text 2"/>
          <p:cNvSpPr/>
          <p:nvPr/>
        </p:nvSpPr>
        <p:spPr>
          <a:xfrm>
            <a:off x="1619175" y="4318603"/>
            <a:ext cx="16554531" cy="658128"/>
          </a:xfrm>
          <a:prstGeom prst="rect">
            <a:avLst/>
          </a:prstGeom>
          <a:noFill/>
          <a:ln/>
        </p:spPr>
        <p:txBody>
          <a:bodyPr wrap="square" lIns="25400" tIns="25400" rIns="25400" bIns="25400" rtlCol="0" anchor="t">
            <a:normAutofit/>
          </a:bodyPr>
          <a:lstStyle/>
          <a:p>
            <a:pPr algn="l" indent="0" marL="0">
              <a:lnSpc>
                <a:spcPct val="105000"/>
              </a:lnSpc>
              <a:buNone/>
            </a:pPr>
            <a:r>
              <a:rPr lang="en-US" sz="4650" dirty="0">
                <a:solidFill>
                  <a:srgbClr val="16120B"/>
                </a:solidFill>
                <a:latin typeface="Georgia" pitchFamily="34" charset="0"/>
                <a:ea typeface="Georgia" pitchFamily="34" charset="-122"/>
                <a:cs typeface="Georgia" pitchFamily="34" charset="-120"/>
              </a:rPr>
              <a:t>Memory turned into </a:t>
            </a:r>
            <a:pPr algn="l" indent="0" marL="0">
              <a:lnSpc>
                <a:spcPct val="105000"/>
              </a:lnSpc>
              <a:buNone/>
            </a:pPr>
            <a:r>
              <a:rPr lang="en-US" sz="4650" i="1" dirty="0">
                <a:solidFill>
                  <a:srgbClr val="9A7438"/>
                </a:solidFill>
                <a:latin typeface="Georgia" pitchFamily="34" charset="0"/>
                <a:ea typeface="Georgia" pitchFamily="34" charset="-122"/>
                <a:cs typeface="Georgia" pitchFamily="34" charset="-120"/>
              </a:rPr>
              <a:t>coordination.</a:t>
            </a:r>
            <a:endParaRPr lang="en-US" sz="4650" dirty="0"/>
          </a:p>
        </p:txBody>
      </p:sp>
      <p:sp>
        <p:nvSpPr>
          <p:cNvPr id="5" name="Text 3"/>
          <p:cNvSpPr/>
          <p:nvPr/>
        </p:nvSpPr>
        <p:spPr>
          <a:xfrm>
            <a:off x="1619175" y="5110033"/>
            <a:ext cx="16554531" cy="658128"/>
          </a:xfrm>
          <a:prstGeom prst="rect">
            <a:avLst/>
          </a:prstGeom>
          <a:noFill/>
          <a:ln/>
        </p:spPr>
        <p:txBody>
          <a:bodyPr wrap="square" lIns="25400" tIns="25400" rIns="25400" bIns="25400" rtlCol="0" anchor="t">
            <a:normAutofit/>
          </a:bodyPr>
          <a:lstStyle/>
          <a:p>
            <a:pPr algn="l" indent="0" marL="0">
              <a:lnSpc>
                <a:spcPct val="105000"/>
              </a:lnSpc>
              <a:buNone/>
            </a:pPr>
            <a:r>
              <a:rPr lang="en-US" sz="4650" dirty="0">
                <a:solidFill>
                  <a:srgbClr val="16120B"/>
                </a:solidFill>
                <a:latin typeface="Georgia" pitchFamily="34" charset="0"/>
                <a:ea typeface="Georgia" pitchFamily="34" charset="-122"/>
                <a:cs typeface="Georgia" pitchFamily="34" charset="-120"/>
              </a:rPr>
              <a:t>Pressure turned into </a:t>
            </a:r>
            <a:pPr algn="l" indent="0" marL="0">
              <a:lnSpc>
                <a:spcPct val="105000"/>
              </a:lnSpc>
              <a:buNone/>
            </a:pPr>
            <a:r>
              <a:rPr lang="en-US" sz="4650" i="1" dirty="0">
                <a:solidFill>
                  <a:srgbClr val="9A7438"/>
                </a:solidFill>
                <a:latin typeface="Georgia" pitchFamily="34" charset="0"/>
                <a:ea typeface="Georgia" pitchFamily="34" charset="-122"/>
                <a:cs typeface="Georgia" pitchFamily="34" charset="-120"/>
              </a:rPr>
              <a:t>leverage.</a:t>
            </a:r>
            <a:endParaRPr lang="en-US" sz="4650" dirty="0"/>
          </a:p>
        </p:txBody>
      </p:sp>
      <p:sp>
        <p:nvSpPr>
          <p:cNvPr id="6" name="Text 4"/>
          <p:cNvSpPr/>
          <p:nvPr/>
        </p:nvSpPr>
        <p:spPr>
          <a:xfrm>
            <a:off x="1619175" y="5901463"/>
            <a:ext cx="16554531" cy="658128"/>
          </a:xfrm>
          <a:prstGeom prst="rect">
            <a:avLst/>
          </a:prstGeom>
          <a:noFill/>
          <a:ln/>
        </p:spPr>
        <p:txBody>
          <a:bodyPr wrap="square" lIns="25400" tIns="25400" rIns="25400" bIns="25400" rtlCol="0" anchor="t">
            <a:normAutofit/>
          </a:bodyPr>
          <a:lstStyle/>
          <a:p>
            <a:pPr algn="l" indent="0" marL="0">
              <a:lnSpc>
                <a:spcPct val="105000"/>
              </a:lnSpc>
              <a:buNone/>
            </a:pPr>
            <a:r>
              <a:rPr lang="en-US" sz="4650" dirty="0">
                <a:solidFill>
                  <a:srgbClr val="16120B"/>
                </a:solidFill>
                <a:latin typeface="Georgia" pitchFamily="34" charset="0"/>
                <a:ea typeface="Georgia" pitchFamily="34" charset="-122"/>
                <a:cs typeface="Georgia" pitchFamily="34" charset="-120"/>
              </a:rPr>
              <a:t>Survival turned into </a:t>
            </a:r>
            <a:pPr algn="l" indent="0" marL="0">
              <a:lnSpc>
                <a:spcPct val="105000"/>
              </a:lnSpc>
              <a:buNone/>
            </a:pPr>
            <a:r>
              <a:rPr lang="en-US" sz="4650" i="1" dirty="0">
                <a:solidFill>
                  <a:srgbClr val="9A7438"/>
                </a:solidFill>
                <a:latin typeface="Georgia" pitchFamily="34" charset="0"/>
                <a:ea typeface="Georgia" pitchFamily="34" charset="-122"/>
                <a:cs typeface="Georgia" pitchFamily="34" charset="-120"/>
              </a:rPr>
              <a:t>forward motion.</a:t>
            </a:r>
            <a:endParaRPr lang="en-US" sz="4650" dirty="0"/>
          </a:p>
        </p:txBody>
      </p:sp>
      <p:sp>
        <p:nvSpPr>
          <p:cNvPr id="7" name="Text 5"/>
          <p:cNvSpPr/>
          <p:nvPr/>
        </p:nvSpPr>
        <p:spPr>
          <a:xfrm>
            <a:off x="1619175" y="7073886"/>
            <a:ext cx="16554531" cy="495291"/>
          </a:xfrm>
          <a:prstGeom prst="rect">
            <a:avLst/>
          </a:prstGeom>
          <a:noFill/>
          <a:ln/>
        </p:spPr>
        <p:txBody>
          <a:bodyPr wrap="square" lIns="25400" tIns="25400" rIns="25400" bIns="25400" rtlCol="0" anchor="t">
            <a:normAutofit/>
          </a:bodyPr>
          <a:lstStyle/>
          <a:p>
            <a:pPr algn="l" indent="0" marL="0">
              <a:lnSpc>
                <a:spcPct val="150000"/>
              </a:lnSpc>
              <a:buNone/>
            </a:pPr>
            <a:r>
              <a:rPr lang="en-US" sz="2400" dirty="0">
                <a:solidFill>
                  <a:srgbClr val="16120B">
                    <a:alpha val="62000"/>
                  </a:srgbClr>
                </a:solidFill>
                <a:latin typeface="Helvetica" pitchFamily="34" charset="0"/>
                <a:ea typeface="Helvetica" pitchFamily="34" charset="-122"/>
                <a:cs typeface="Helvetica" pitchFamily="34" charset="-120"/>
              </a:rPr>
              <a:t>Not all at once. One disciplined man at a time. Then fifteen hundred.</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908"/>
        </a:solidFill>
      </p:bgPr>
    </p:bg>
    <p:spTree>
      <p:nvGrpSpPr>
        <p:cNvPr id="1" name=""/>
        <p:cNvGrpSpPr/>
        <p:nvPr/>
      </p:nvGrpSpPr>
      <p:grpSpPr>
        <a:xfrm>
          <a:off x="0" y="0"/>
          <a:ext cx="0" cy="0"/>
          <a:chOff x="0" y="0"/>
          <a:chExt cx="0" cy="0"/>
        </a:xfrm>
      </p:grpSpPr>
      <p:sp>
        <p:nvSpPr>
          <p:cNvPr id="2" name="Shape 0"/>
          <p:cNvSpPr/>
          <p:nvPr/>
        </p:nvSpPr>
        <p:spPr>
          <a:xfrm>
            <a:off x="0" y="0"/>
            <a:ext cx="7680887" cy="10286985"/>
          </a:xfrm>
          <a:prstGeom prst="rect">
            <a:avLst/>
          </a:prstGeom>
          <a:solidFill>
            <a:srgbClr val="000000"/>
          </a:solidFill>
          <a:ln/>
        </p:spPr>
      </p:sp>
      <p:pic>
        <p:nvPicPr>
          <p:cNvPr id="3" name="Image 0" descr="preencoded.png">    </p:cNvPr>
          <p:cNvPicPr>
            <a:picLocks noChangeAspect="1"/>
          </p:cNvPicPr>
          <p:nvPr/>
        </p:nvPicPr>
        <p:blipFill>
          <a:blip r:embed="rId1"/>
          <a:srcRect l="223" r="223" t="0" b="0"/>
          <a:stretch/>
        </p:blipFill>
        <p:spPr>
          <a:xfrm>
            <a:off x="0" y="0"/>
            <a:ext cx="7680887" cy="10286985"/>
          </a:xfrm>
          <a:prstGeom prst="rect">
            <a:avLst/>
          </a:prstGeom>
        </p:spPr>
      </p:pic>
      <p:sp>
        <p:nvSpPr>
          <p:cNvPr id="4" name="Shape 1"/>
          <p:cNvSpPr/>
          <p:nvPr/>
        </p:nvSpPr>
        <p:spPr>
          <a:xfrm>
            <a:off x="0" y="0"/>
            <a:ext cx="7680887" cy="10286985"/>
          </a:xfrm>
          <a:prstGeom prst="rect">
            <a:avLst/>
          </a:prstGeom>
          <a:gradFill rotWithShape="1">
            <a:gsLst>
              <a:gs pos="78000">
                <a:srgbClr val="0A0908">
                  <a:alpha val="0"/>
                </a:srgbClr>
              </a:gs>
              <a:gs pos="100000">
                <a:srgbClr val="0A0908">
                  <a:alpha val="85000"/>
                </a:srgbClr>
              </a:gs>
            </a:gsLst>
            <a:lin ang="0" scaled="0"/>
          </a:gradFill>
          <a:ln/>
        </p:spPr>
      </p:sp>
      <p:sp>
        <p:nvSpPr>
          <p:cNvPr id="5" name="Text 2"/>
          <p:cNvSpPr/>
          <p:nvPr/>
        </p:nvSpPr>
        <p:spPr>
          <a:xfrm>
            <a:off x="8728572" y="2823451"/>
            <a:ext cx="9362832" cy="295069"/>
          </a:xfrm>
          <a:prstGeom prst="rect">
            <a:avLst/>
          </a:prstGeom>
          <a:noFill/>
          <a:ln/>
        </p:spPr>
        <p:txBody>
          <a:bodyPr wrap="square" lIns="25400" tIns="25400" rIns="25400" bIns="25400" rtlCol="0" anchor="t">
            <a:normAutofit/>
          </a:bodyPr>
          <a:lstStyle/>
          <a:p>
            <a:pPr algn="l" indent="0" marL="0">
              <a:buNone/>
            </a:pPr>
            <a:r>
              <a:rPr lang="en-US" sz="1350" spc="459" kern="0" dirty="0">
                <a:solidFill>
                  <a:srgbClr val="B89160"/>
                </a:solidFill>
                <a:latin typeface="Courier New" pitchFamily="34" charset="0"/>
                <a:ea typeface="Courier New" pitchFamily="34" charset="-122"/>
                <a:cs typeface="Courier New" pitchFamily="34" charset="-120"/>
              </a:rPr>
              <a:t>🜂 WHY BLACK MEN</a:t>
            </a:r>
            <a:endParaRPr lang="en-US" sz="1350" dirty="0"/>
          </a:p>
        </p:txBody>
      </p:sp>
      <p:sp>
        <p:nvSpPr>
          <p:cNvPr id="6" name="Text 3"/>
          <p:cNvSpPr/>
          <p:nvPr/>
        </p:nvSpPr>
        <p:spPr>
          <a:xfrm>
            <a:off x="8728572" y="3518518"/>
            <a:ext cx="8767015" cy="1532448"/>
          </a:xfrm>
          <a:prstGeom prst="rect">
            <a:avLst/>
          </a:prstGeom>
          <a:noFill/>
          <a:ln/>
        </p:spPr>
        <p:txBody>
          <a:bodyPr wrap="square" lIns="25400" tIns="25400" rIns="25400" bIns="25400" rtlCol="0" anchor="t">
            <a:normAutofit/>
          </a:bodyPr>
          <a:lstStyle/>
          <a:p>
            <a:pPr algn="l" indent="0" marL="0">
              <a:lnSpc>
                <a:spcPct val="106000"/>
              </a:lnSpc>
              <a:buNone/>
            </a:pPr>
            <a:r>
              <a:rPr lang="en-US" sz="5550" spc="-55" kern="0" dirty="0">
                <a:solidFill>
                  <a:srgbClr val="EFE9DC"/>
                </a:solidFill>
                <a:latin typeface="Georgia" pitchFamily="34" charset="0"/>
                <a:ea typeface="Georgia" pitchFamily="34" charset="-122"/>
                <a:cs typeface="Georgia" pitchFamily="34" charset="-120"/>
              </a:rPr>
              <a:t>Because we carried weight nobody else was asked to carry.</a:t>
            </a:r>
            <a:endParaRPr lang="en-US" sz="5550" dirty="0"/>
          </a:p>
        </p:txBody>
      </p:sp>
      <p:sp>
        <p:nvSpPr>
          <p:cNvPr id="7" name="Text 4"/>
          <p:cNvSpPr/>
          <p:nvPr/>
        </p:nvSpPr>
        <p:spPr>
          <a:xfrm>
            <a:off x="8728572" y="5450963"/>
            <a:ext cx="6475065" cy="1410745"/>
          </a:xfrm>
          <a:prstGeom prst="rect">
            <a:avLst/>
          </a:prstGeom>
          <a:noFill/>
          <a:ln/>
        </p:spPr>
        <p:txBody>
          <a:bodyPr wrap="square" lIns="25400" tIns="25400" rIns="25400" bIns="25400" rtlCol="0" anchor="t">
            <a:normAutofit/>
          </a:bodyPr>
          <a:lstStyle/>
          <a:p>
            <a:pPr algn="l" indent="0" marL="0">
              <a:lnSpc>
                <a:spcPct val="155000"/>
              </a:lnSpc>
              <a:buNone/>
            </a:pPr>
            <a:r>
              <a:rPr lang="en-US" sz="2325" dirty="0">
                <a:solidFill>
                  <a:srgbClr val="EFE9DC">
                    <a:alpha val="62000"/>
                  </a:srgbClr>
                </a:solidFill>
                <a:latin typeface="Helvetica" pitchFamily="34" charset="0"/>
                <a:ea typeface="Helvetica" pitchFamily="34" charset="-122"/>
                <a:cs typeface="Helvetica" pitchFamily="34" charset="-120"/>
              </a:rPr>
              <a:t>Used. Feared. Hated. Disposable when convenient. And somehow we still built. That leaves marks. It also leaves wisdom.</a:t>
            </a:r>
            <a:endParaRPr lang="en-US" sz="2325" dirty="0"/>
          </a:p>
        </p:txBody>
      </p:sp>
      <p:sp>
        <p:nvSpPr>
          <p:cNvPr id="8" name="Text 5"/>
          <p:cNvSpPr/>
          <p:nvPr/>
        </p:nvSpPr>
        <p:spPr>
          <a:xfrm>
            <a:off x="8728572" y="7223606"/>
            <a:ext cx="9362832" cy="277938"/>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9160"/>
                </a:solidFill>
                <a:latin typeface="Courier New" pitchFamily="34" charset="0"/>
                <a:ea typeface="Courier New" pitchFamily="34" charset="-122"/>
                <a:cs typeface="Courier New" pitchFamily="34" charset="-120"/>
              </a:rPr>
              <a:t>SANKOFA — LOOK BACK TO MOVE FORWARD.</a:t>
            </a:r>
            <a:endParaRPr lang="en-US" sz="12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90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34000"/>
          </a:blip>
          <a:srcRect l="8882" r="8882" t="0" b="0"/>
          <a:stretch/>
        </p:blipFill>
        <p:spPr>
          <a:xfrm>
            <a:off x="0" y="0"/>
            <a:ext cx="18287923" cy="10286985"/>
          </a:xfrm>
          <a:prstGeom prst="rect">
            <a:avLst/>
          </a:prstGeom>
        </p:spPr>
      </p:pic>
      <p:sp>
        <p:nvSpPr>
          <p:cNvPr id="3" name="Shape 0"/>
          <p:cNvSpPr/>
          <p:nvPr/>
        </p:nvSpPr>
        <p:spPr>
          <a:xfrm>
            <a:off x="0" y="0"/>
            <a:ext cx="18287923" cy="10286985"/>
          </a:xfrm>
          <a:prstGeom prst="rect">
            <a:avLst/>
          </a:prstGeom>
          <a:gradFill rotWithShape="1">
            <a:gsLst>
              <a:gs pos="38000">
                <a:srgbClr val="0A0908">
                  <a:alpha val="95000"/>
                </a:srgbClr>
              </a:gs>
              <a:gs pos="100000">
                <a:srgbClr val="0A0908">
                  <a:alpha val="55000"/>
                </a:srgbClr>
              </a:gs>
            </a:gsLst>
            <a:lin ang="0" scaled="0"/>
          </a:gradFill>
          <a:ln/>
        </p:spPr>
      </p:sp>
      <p:sp>
        <p:nvSpPr>
          <p:cNvPr id="4" name="Text 1"/>
          <p:cNvSpPr/>
          <p:nvPr/>
        </p:nvSpPr>
        <p:spPr>
          <a:xfrm>
            <a:off x="1619175" y="3263957"/>
            <a:ext cx="16554531" cy="295069"/>
          </a:xfrm>
          <a:prstGeom prst="rect">
            <a:avLst/>
          </a:prstGeom>
          <a:noFill/>
          <a:ln/>
        </p:spPr>
        <p:txBody>
          <a:bodyPr wrap="square" lIns="25400" tIns="25400" rIns="25400" bIns="25400" rtlCol="0" anchor="t">
            <a:normAutofit/>
          </a:bodyPr>
          <a:lstStyle/>
          <a:p>
            <a:pPr algn="l" indent="0" marL="0">
              <a:buNone/>
            </a:pPr>
            <a:r>
              <a:rPr lang="en-US" sz="1350" spc="459" kern="0" dirty="0">
                <a:solidFill>
                  <a:srgbClr val="B89160"/>
                </a:solidFill>
                <a:latin typeface="Courier New" pitchFamily="34" charset="0"/>
                <a:ea typeface="Courier New" pitchFamily="34" charset="-122"/>
                <a:cs typeface="Courier New" pitchFamily="34" charset="-120"/>
              </a:rPr>
              <a:t>🜂 PRESSURE DIDN’T JUST HURT US</a:t>
            </a:r>
            <a:endParaRPr lang="en-US" sz="1350" dirty="0"/>
          </a:p>
        </p:txBody>
      </p:sp>
      <p:sp>
        <p:nvSpPr>
          <p:cNvPr id="5" name="Text 2"/>
          <p:cNvSpPr/>
          <p:nvPr/>
        </p:nvSpPr>
        <p:spPr>
          <a:xfrm>
            <a:off x="1619175" y="3806627"/>
            <a:ext cx="16554531" cy="952483"/>
          </a:xfrm>
          <a:prstGeom prst="rect">
            <a:avLst/>
          </a:prstGeom>
          <a:noFill/>
          <a:ln/>
        </p:spPr>
        <p:txBody>
          <a:bodyPr wrap="square" lIns="25400" tIns="25400" rIns="25400" bIns="25400" rtlCol="0" anchor="t">
            <a:normAutofit/>
          </a:bodyPr>
          <a:lstStyle/>
          <a:p>
            <a:pPr algn="l" indent="0" marL="0">
              <a:lnSpc>
                <a:spcPct val="100000"/>
              </a:lnSpc>
              <a:buNone/>
            </a:pPr>
            <a:r>
              <a:rPr lang="en-US" sz="7200" b="1" spc="-72" kern="0" dirty="0">
                <a:solidFill>
                  <a:srgbClr val="EFE9DC"/>
                </a:solidFill>
                <a:latin typeface="Georgia" pitchFamily="34" charset="0"/>
                <a:ea typeface="Georgia" pitchFamily="34" charset="-122"/>
                <a:cs typeface="Georgia" pitchFamily="34" charset="-120"/>
              </a:rPr>
              <a:t>It sharpened us.</a:t>
            </a:r>
            <a:endParaRPr lang="en-US" sz="7200" dirty="0"/>
          </a:p>
        </p:txBody>
      </p:sp>
      <p:sp>
        <p:nvSpPr>
          <p:cNvPr id="6" name="Shape 3"/>
          <p:cNvSpPr/>
          <p:nvPr/>
        </p:nvSpPr>
        <p:spPr>
          <a:xfrm>
            <a:off x="1619175" y="5216300"/>
            <a:ext cx="17131" cy="462545"/>
          </a:xfrm>
          <a:prstGeom prst="rect">
            <a:avLst/>
          </a:prstGeom>
          <a:solidFill>
            <a:srgbClr val="B89160"/>
          </a:solidFill>
          <a:ln/>
        </p:spPr>
      </p:sp>
      <p:sp>
        <p:nvSpPr>
          <p:cNvPr id="7" name="Text 4"/>
          <p:cNvSpPr/>
          <p:nvPr/>
        </p:nvSpPr>
        <p:spPr>
          <a:xfrm>
            <a:off x="1864906" y="5216300"/>
            <a:ext cx="6040748" cy="500645"/>
          </a:xfrm>
          <a:prstGeom prst="rect">
            <a:avLst/>
          </a:prstGeom>
          <a:noFill/>
          <a:ln/>
        </p:spPr>
        <p:txBody>
          <a:bodyPr wrap="square" lIns="25400" tIns="25400" rIns="25400" bIns="25400" rtlCol="0" anchor="t">
            <a:normAutofit/>
          </a:bodyPr>
          <a:lstStyle/>
          <a:p>
            <a:pPr algn="l" indent="0" marL="0">
              <a:buNone/>
            </a:pPr>
            <a:r>
              <a:rPr lang="en-US" sz="3000" dirty="0">
                <a:solidFill>
                  <a:srgbClr val="E7E1D4"/>
                </a:solidFill>
                <a:latin typeface="Georgia" pitchFamily="34" charset="0"/>
                <a:ea typeface="Georgia" pitchFamily="34" charset="-122"/>
                <a:cs typeface="Georgia" pitchFamily="34" charset="-120"/>
              </a:rPr>
              <a:t>To think under strain.</a:t>
            </a:r>
            <a:endParaRPr lang="en-US" sz="3000" dirty="0"/>
          </a:p>
        </p:txBody>
      </p:sp>
      <p:sp>
        <p:nvSpPr>
          <p:cNvPr id="8" name="Shape 5"/>
          <p:cNvSpPr/>
          <p:nvPr/>
        </p:nvSpPr>
        <p:spPr>
          <a:xfrm>
            <a:off x="8096142" y="5216300"/>
            <a:ext cx="17131" cy="462545"/>
          </a:xfrm>
          <a:prstGeom prst="rect">
            <a:avLst/>
          </a:prstGeom>
          <a:solidFill>
            <a:srgbClr val="B89160"/>
          </a:solidFill>
          <a:ln/>
        </p:spPr>
      </p:sp>
      <p:sp>
        <p:nvSpPr>
          <p:cNvPr id="9" name="Text 6"/>
          <p:cNvSpPr/>
          <p:nvPr/>
        </p:nvSpPr>
        <p:spPr>
          <a:xfrm>
            <a:off x="8341873" y="5216300"/>
            <a:ext cx="6040748" cy="500645"/>
          </a:xfrm>
          <a:prstGeom prst="rect">
            <a:avLst/>
          </a:prstGeom>
          <a:noFill/>
          <a:ln/>
        </p:spPr>
        <p:txBody>
          <a:bodyPr wrap="square" lIns="25400" tIns="25400" rIns="25400" bIns="25400" rtlCol="0" anchor="t">
            <a:normAutofit/>
          </a:bodyPr>
          <a:lstStyle/>
          <a:p>
            <a:pPr algn="l" indent="0" marL="0">
              <a:buNone/>
            </a:pPr>
            <a:r>
              <a:rPr lang="en-US" sz="3000" dirty="0">
                <a:solidFill>
                  <a:srgbClr val="E7E1D4"/>
                </a:solidFill>
                <a:latin typeface="Georgia" pitchFamily="34" charset="0"/>
                <a:ea typeface="Georgia" pitchFamily="34" charset="-122"/>
                <a:cs typeface="Georgia" pitchFamily="34" charset="-120"/>
              </a:rPr>
              <a:t>To build without help.</a:t>
            </a:r>
            <a:endParaRPr lang="en-US" sz="3000" dirty="0"/>
          </a:p>
        </p:txBody>
      </p:sp>
      <p:sp>
        <p:nvSpPr>
          <p:cNvPr id="10" name="Shape 7"/>
          <p:cNvSpPr/>
          <p:nvPr/>
        </p:nvSpPr>
        <p:spPr>
          <a:xfrm>
            <a:off x="1619175" y="5888347"/>
            <a:ext cx="17131" cy="462545"/>
          </a:xfrm>
          <a:prstGeom prst="rect">
            <a:avLst/>
          </a:prstGeom>
          <a:solidFill>
            <a:srgbClr val="B89160"/>
          </a:solidFill>
          <a:ln/>
        </p:spPr>
      </p:sp>
      <p:sp>
        <p:nvSpPr>
          <p:cNvPr id="11" name="Text 8"/>
          <p:cNvSpPr/>
          <p:nvPr/>
        </p:nvSpPr>
        <p:spPr>
          <a:xfrm>
            <a:off x="1864906" y="5888347"/>
            <a:ext cx="6040748" cy="500645"/>
          </a:xfrm>
          <a:prstGeom prst="rect">
            <a:avLst/>
          </a:prstGeom>
          <a:noFill/>
          <a:ln/>
        </p:spPr>
        <p:txBody>
          <a:bodyPr wrap="square" lIns="25400" tIns="25400" rIns="25400" bIns="25400" rtlCol="0" anchor="t">
            <a:normAutofit/>
          </a:bodyPr>
          <a:lstStyle/>
          <a:p>
            <a:pPr algn="l" indent="0" marL="0">
              <a:buNone/>
            </a:pPr>
            <a:r>
              <a:rPr lang="en-US" sz="3000" dirty="0">
                <a:solidFill>
                  <a:srgbClr val="E7E1D4"/>
                </a:solidFill>
                <a:latin typeface="Georgia" pitchFamily="34" charset="0"/>
                <a:ea typeface="Georgia" pitchFamily="34" charset="-122"/>
                <a:cs typeface="Georgia" pitchFamily="34" charset="-120"/>
              </a:rPr>
              <a:t>To read danger early.</a:t>
            </a:r>
            <a:endParaRPr lang="en-US" sz="3000" dirty="0"/>
          </a:p>
        </p:txBody>
      </p:sp>
      <p:sp>
        <p:nvSpPr>
          <p:cNvPr id="12" name="Shape 9"/>
          <p:cNvSpPr/>
          <p:nvPr/>
        </p:nvSpPr>
        <p:spPr>
          <a:xfrm>
            <a:off x="8096142" y="5888347"/>
            <a:ext cx="17131" cy="462545"/>
          </a:xfrm>
          <a:prstGeom prst="rect">
            <a:avLst/>
          </a:prstGeom>
          <a:solidFill>
            <a:srgbClr val="B89160"/>
          </a:solidFill>
          <a:ln/>
        </p:spPr>
      </p:sp>
      <p:sp>
        <p:nvSpPr>
          <p:cNvPr id="13" name="Text 10"/>
          <p:cNvSpPr/>
          <p:nvPr/>
        </p:nvSpPr>
        <p:spPr>
          <a:xfrm>
            <a:off x="8341873" y="5888347"/>
            <a:ext cx="6040748" cy="500645"/>
          </a:xfrm>
          <a:prstGeom prst="rect">
            <a:avLst/>
          </a:prstGeom>
          <a:noFill/>
          <a:ln/>
        </p:spPr>
        <p:txBody>
          <a:bodyPr wrap="square" lIns="25400" tIns="25400" rIns="25400" bIns="25400" rtlCol="0" anchor="t">
            <a:normAutofit/>
          </a:bodyPr>
          <a:lstStyle/>
          <a:p>
            <a:pPr algn="l" indent="0" marL="0">
              <a:buNone/>
            </a:pPr>
            <a:r>
              <a:rPr lang="en-US" sz="3000" dirty="0">
                <a:solidFill>
                  <a:srgbClr val="E7E1D4"/>
                </a:solidFill>
                <a:latin typeface="Georgia" pitchFamily="34" charset="0"/>
                <a:ea typeface="Georgia" pitchFamily="34" charset="-122"/>
                <a:cs typeface="Georgia" pitchFamily="34" charset="-120"/>
              </a:rPr>
              <a:t>To protect what matters.</a:t>
            </a:r>
            <a:endParaRPr lang="en-US" sz="3000" dirty="0"/>
          </a:p>
        </p:txBody>
      </p:sp>
      <p:sp>
        <p:nvSpPr>
          <p:cNvPr id="14" name="Shape 11"/>
          <p:cNvSpPr/>
          <p:nvPr/>
        </p:nvSpPr>
        <p:spPr>
          <a:xfrm>
            <a:off x="1619175" y="6560393"/>
            <a:ext cx="17131" cy="462545"/>
          </a:xfrm>
          <a:prstGeom prst="rect">
            <a:avLst/>
          </a:prstGeom>
          <a:solidFill>
            <a:srgbClr val="B89160"/>
          </a:solidFill>
          <a:ln/>
        </p:spPr>
      </p:sp>
      <p:sp>
        <p:nvSpPr>
          <p:cNvPr id="15" name="Text 12"/>
          <p:cNvSpPr/>
          <p:nvPr/>
        </p:nvSpPr>
        <p:spPr>
          <a:xfrm>
            <a:off x="1864906" y="6560393"/>
            <a:ext cx="6040748" cy="500645"/>
          </a:xfrm>
          <a:prstGeom prst="rect">
            <a:avLst/>
          </a:prstGeom>
          <a:noFill/>
          <a:ln/>
        </p:spPr>
        <p:txBody>
          <a:bodyPr wrap="square" lIns="25400" tIns="25400" rIns="25400" bIns="25400" rtlCol="0" anchor="t">
            <a:normAutofit/>
          </a:bodyPr>
          <a:lstStyle/>
          <a:p>
            <a:pPr algn="l" indent="0" marL="0">
              <a:buNone/>
            </a:pPr>
            <a:r>
              <a:rPr lang="en-US" sz="3000" dirty="0">
                <a:solidFill>
                  <a:srgbClr val="E7E1D4"/>
                </a:solidFill>
                <a:latin typeface="Georgia" pitchFamily="34" charset="0"/>
                <a:ea typeface="Georgia" pitchFamily="34" charset="-122"/>
                <a:cs typeface="Georgia" pitchFamily="34" charset="-120"/>
              </a:rPr>
              <a:t>To improvise when things change.</a:t>
            </a:r>
            <a:endParaRPr lang="en-US" sz="3000" dirty="0"/>
          </a:p>
        </p:txBody>
      </p:sp>
      <p:sp>
        <p:nvSpPr>
          <p:cNvPr id="16" name="Shape 13"/>
          <p:cNvSpPr/>
          <p:nvPr/>
        </p:nvSpPr>
        <p:spPr>
          <a:xfrm>
            <a:off x="8096142" y="6560393"/>
            <a:ext cx="17131" cy="462545"/>
          </a:xfrm>
          <a:prstGeom prst="rect">
            <a:avLst/>
          </a:prstGeom>
          <a:solidFill>
            <a:srgbClr val="B89160"/>
          </a:solidFill>
          <a:ln/>
        </p:spPr>
      </p:sp>
      <p:sp>
        <p:nvSpPr>
          <p:cNvPr id="17" name="Text 14"/>
          <p:cNvSpPr/>
          <p:nvPr/>
        </p:nvSpPr>
        <p:spPr>
          <a:xfrm>
            <a:off x="8341873" y="6560393"/>
            <a:ext cx="6040748" cy="500645"/>
          </a:xfrm>
          <a:prstGeom prst="rect">
            <a:avLst/>
          </a:prstGeom>
          <a:noFill/>
          <a:ln/>
        </p:spPr>
        <p:txBody>
          <a:bodyPr wrap="square" lIns="25400" tIns="25400" rIns="25400" bIns="25400" rtlCol="0" anchor="t">
            <a:normAutofit/>
          </a:bodyPr>
          <a:lstStyle/>
          <a:p>
            <a:pPr algn="l" indent="0" marL="0">
              <a:buNone/>
            </a:pPr>
            <a:r>
              <a:rPr lang="en-US" sz="3000" dirty="0">
                <a:solidFill>
                  <a:srgbClr val="E7E1D4"/>
                </a:solidFill>
                <a:latin typeface="Georgia" pitchFamily="34" charset="0"/>
                <a:ea typeface="Georgia" pitchFamily="34" charset="-122"/>
                <a:cs typeface="Georgia" pitchFamily="34" charset="-120"/>
              </a:rPr>
              <a:t>To endure what should’ve ended us.</a:t>
            </a:r>
            <a:endParaRPr lang="en-US" sz="3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CE7DB"/>
        </a:solidFill>
      </p:bgPr>
    </p:bg>
    <p:spTree>
      <p:nvGrpSpPr>
        <p:cNvPr id="1" name=""/>
        <p:cNvGrpSpPr/>
        <p:nvPr/>
      </p:nvGrpSpPr>
      <p:grpSpPr>
        <a:xfrm>
          <a:off x="0" y="0"/>
          <a:ext cx="0" cy="0"/>
          <a:chOff x="0" y="0"/>
          <a:chExt cx="0" cy="0"/>
        </a:xfrm>
      </p:grpSpPr>
      <p:sp>
        <p:nvSpPr>
          <p:cNvPr id="2" name="Text 0"/>
          <p:cNvSpPr/>
          <p:nvPr/>
        </p:nvSpPr>
        <p:spPr>
          <a:xfrm>
            <a:off x="1619175" y="2806320"/>
            <a:ext cx="9685543" cy="295069"/>
          </a:xfrm>
          <a:prstGeom prst="rect">
            <a:avLst/>
          </a:prstGeom>
          <a:noFill/>
          <a:ln/>
        </p:spPr>
        <p:txBody>
          <a:bodyPr wrap="square" lIns="25400" tIns="25400" rIns="25400" bIns="25400" rtlCol="0" anchor="t">
            <a:normAutofit/>
          </a:bodyPr>
          <a:lstStyle/>
          <a:p>
            <a:pPr algn="l" indent="0" marL="0">
              <a:buNone/>
            </a:pPr>
            <a:r>
              <a:rPr lang="en-US" sz="1350" spc="459" kern="0" dirty="0">
                <a:solidFill>
                  <a:srgbClr val="9A7438"/>
                </a:solidFill>
                <a:latin typeface="Courier New" pitchFamily="34" charset="0"/>
                <a:ea typeface="Courier New" pitchFamily="34" charset="-122"/>
                <a:cs typeface="Courier New" pitchFamily="34" charset="-120"/>
              </a:rPr>
              <a:t>🜂 HEALING IS STRATEGIC</a:t>
            </a:r>
            <a:endParaRPr lang="en-US" sz="1350" dirty="0"/>
          </a:p>
        </p:txBody>
      </p:sp>
      <p:sp>
        <p:nvSpPr>
          <p:cNvPr id="3" name="Text 1"/>
          <p:cNvSpPr/>
          <p:nvPr/>
        </p:nvSpPr>
        <p:spPr>
          <a:xfrm>
            <a:off x="1619175" y="3387089"/>
            <a:ext cx="9685543" cy="781081"/>
          </a:xfrm>
          <a:prstGeom prst="rect">
            <a:avLst/>
          </a:prstGeom>
          <a:noFill/>
          <a:ln/>
        </p:spPr>
        <p:txBody>
          <a:bodyPr wrap="square" lIns="25400" tIns="25400" rIns="25400" bIns="25400" rtlCol="0" anchor="t">
            <a:normAutofit/>
          </a:bodyPr>
          <a:lstStyle/>
          <a:p>
            <a:pPr algn="l" indent="0" marL="0">
              <a:lnSpc>
                <a:spcPct val="100000"/>
              </a:lnSpc>
              <a:buNone/>
            </a:pPr>
            <a:r>
              <a:rPr lang="en-US" sz="5850" b="1" spc="-58" kern="0" dirty="0">
                <a:solidFill>
                  <a:srgbClr val="16120B"/>
                </a:solidFill>
                <a:latin typeface="Georgia" pitchFamily="34" charset="0"/>
                <a:ea typeface="Georgia" pitchFamily="34" charset="-122"/>
                <a:cs typeface="Georgia" pitchFamily="34" charset="-120"/>
              </a:rPr>
              <a:t>Before we build, we repair.</a:t>
            </a:r>
            <a:endParaRPr lang="en-US" sz="5850" dirty="0"/>
          </a:p>
        </p:txBody>
      </p:sp>
      <p:sp>
        <p:nvSpPr>
          <p:cNvPr id="4" name="Text 2"/>
          <p:cNvSpPr/>
          <p:nvPr/>
        </p:nvSpPr>
        <p:spPr>
          <a:xfrm>
            <a:off x="1619175" y="4568167"/>
            <a:ext cx="9685543" cy="500913"/>
          </a:xfrm>
          <a:prstGeom prst="rect">
            <a:avLst/>
          </a:prstGeom>
          <a:noFill/>
          <a:ln/>
        </p:spPr>
        <p:txBody>
          <a:bodyPr wrap="square" lIns="25400" tIns="25400" rIns="25400" bIns="25400" rtlCol="0" anchor="t">
            <a:normAutofit/>
          </a:bodyPr>
          <a:lstStyle/>
          <a:p>
            <a:pPr algn="l" indent="0" marL="0">
              <a:lnSpc>
                <a:spcPct val="120000"/>
              </a:lnSpc>
              <a:buNone/>
            </a:pPr>
            <a:r>
              <a:rPr lang="en-US" sz="2925" dirty="0">
                <a:solidFill>
                  <a:srgbClr val="2A2316"/>
                </a:solidFill>
                <a:latin typeface="Georgia" pitchFamily="34" charset="0"/>
                <a:ea typeface="Georgia" pitchFamily="34" charset="-122"/>
                <a:cs typeface="Georgia" pitchFamily="34" charset="-120"/>
              </a:rPr>
              <a:t>Broken men get played. </a:t>
            </a:r>
            <a:pPr algn="l" indent="0" marL="0">
              <a:lnSpc>
                <a:spcPct val="120000"/>
              </a:lnSpc>
              <a:buNone/>
            </a:pPr>
            <a:r>
              <a:rPr lang="en-US" sz="2925" i="1" dirty="0">
                <a:solidFill>
                  <a:srgbClr val="9A7438"/>
                </a:solidFill>
                <a:latin typeface="Georgia" pitchFamily="34" charset="0"/>
                <a:ea typeface="Georgia" pitchFamily="34" charset="-122"/>
                <a:cs typeface="Georgia" pitchFamily="34" charset="-120"/>
              </a:rPr>
              <a:t>Grounded men respond.</a:t>
            </a:r>
            <a:endParaRPr lang="en-US" sz="2925" dirty="0"/>
          </a:p>
        </p:txBody>
      </p:sp>
      <p:sp>
        <p:nvSpPr>
          <p:cNvPr id="5" name="Text 3"/>
          <p:cNvSpPr/>
          <p:nvPr/>
        </p:nvSpPr>
        <p:spPr>
          <a:xfrm>
            <a:off x="1619175" y="5135730"/>
            <a:ext cx="9685543" cy="500913"/>
          </a:xfrm>
          <a:prstGeom prst="rect">
            <a:avLst/>
          </a:prstGeom>
          <a:noFill/>
          <a:ln/>
        </p:spPr>
        <p:txBody>
          <a:bodyPr wrap="square" lIns="25400" tIns="25400" rIns="25400" bIns="25400" rtlCol="0" anchor="t">
            <a:normAutofit/>
          </a:bodyPr>
          <a:lstStyle/>
          <a:p>
            <a:pPr algn="l" indent="0" marL="0">
              <a:lnSpc>
                <a:spcPct val="120000"/>
              </a:lnSpc>
              <a:buNone/>
            </a:pPr>
            <a:r>
              <a:rPr lang="en-US" sz="2925" dirty="0">
                <a:solidFill>
                  <a:srgbClr val="2A2316"/>
                </a:solidFill>
                <a:latin typeface="Georgia" pitchFamily="34" charset="0"/>
                <a:ea typeface="Georgia" pitchFamily="34" charset="-122"/>
                <a:cs typeface="Georgia" pitchFamily="34" charset="-120"/>
              </a:rPr>
              <a:t>Disconnected men drift. </a:t>
            </a:r>
            <a:pPr algn="l" indent="0" marL="0">
              <a:lnSpc>
                <a:spcPct val="120000"/>
              </a:lnSpc>
              <a:buNone/>
            </a:pPr>
            <a:r>
              <a:rPr lang="en-US" sz="2925" i="1" dirty="0">
                <a:solidFill>
                  <a:srgbClr val="9A7438"/>
                </a:solidFill>
                <a:latin typeface="Georgia" pitchFamily="34" charset="0"/>
                <a:ea typeface="Georgia" pitchFamily="34" charset="-122"/>
                <a:cs typeface="Georgia" pitchFamily="34" charset="-120"/>
              </a:rPr>
              <a:t>Disciplined men coordinate.</a:t>
            </a:r>
            <a:endParaRPr lang="en-US" sz="2925" dirty="0"/>
          </a:p>
        </p:txBody>
      </p:sp>
      <p:sp>
        <p:nvSpPr>
          <p:cNvPr id="6" name="Text 4"/>
          <p:cNvSpPr/>
          <p:nvPr/>
        </p:nvSpPr>
        <p:spPr>
          <a:xfrm>
            <a:off x="1619175" y="5703293"/>
            <a:ext cx="9685543" cy="500913"/>
          </a:xfrm>
          <a:prstGeom prst="rect">
            <a:avLst/>
          </a:prstGeom>
          <a:noFill/>
          <a:ln/>
        </p:spPr>
        <p:txBody>
          <a:bodyPr wrap="square" lIns="25400" tIns="25400" rIns="25400" bIns="25400" rtlCol="0" anchor="t">
            <a:normAutofit/>
          </a:bodyPr>
          <a:lstStyle/>
          <a:p>
            <a:pPr algn="l" indent="0" marL="0">
              <a:lnSpc>
                <a:spcPct val="120000"/>
              </a:lnSpc>
              <a:buNone/>
            </a:pPr>
            <a:r>
              <a:rPr lang="en-US" sz="2925" dirty="0">
                <a:solidFill>
                  <a:srgbClr val="2A2316"/>
                </a:solidFill>
                <a:latin typeface="Georgia" pitchFamily="34" charset="0"/>
                <a:ea typeface="Georgia" pitchFamily="34" charset="-122"/>
                <a:cs typeface="Georgia" pitchFamily="34" charset="-120"/>
              </a:rPr>
              <a:t>Unhealed men react. </a:t>
            </a:r>
            <a:pPr algn="l" indent="0" marL="0">
              <a:lnSpc>
                <a:spcPct val="120000"/>
              </a:lnSpc>
              <a:buNone/>
            </a:pPr>
            <a:r>
              <a:rPr lang="en-US" sz="2925" i="1" dirty="0">
                <a:solidFill>
                  <a:srgbClr val="9A7438"/>
                </a:solidFill>
                <a:latin typeface="Georgia" pitchFamily="34" charset="0"/>
                <a:ea typeface="Georgia" pitchFamily="34" charset="-122"/>
                <a:cs typeface="Georgia" pitchFamily="34" charset="-120"/>
              </a:rPr>
              <a:t>Clear men carry weight.</a:t>
            </a:r>
            <a:endParaRPr lang="en-US" sz="2925" dirty="0"/>
          </a:p>
        </p:txBody>
      </p:sp>
      <p:sp>
        <p:nvSpPr>
          <p:cNvPr id="7" name="Text 5"/>
          <p:cNvSpPr/>
          <p:nvPr/>
        </p:nvSpPr>
        <p:spPr>
          <a:xfrm>
            <a:off x="1619175" y="6623297"/>
            <a:ext cx="7456121" cy="895378"/>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16120B">
                    <a:alpha val="60000"/>
                  </a:srgbClr>
                </a:solidFill>
                <a:latin typeface="Helvetica" pitchFamily="34" charset="0"/>
                <a:ea typeface="Helvetica" pitchFamily="34" charset="-122"/>
                <a:cs typeface="Helvetica" pitchFamily="34" charset="-120"/>
              </a:rPr>
              <a:t>That’s why healing matters. Not as self-help. As infrastructure — and infrastructure gets built.</a:t>
            </a:r>
            <a:endParaRPr lang="en-US" sz="2250" dirty="0"/>
          </a:p>
        </p:txBody>
      </p:sp>
      <p:sp>
        <p:nvSpPr>
          <p:cNvPr id="8" name="Shape 6"/>
          <p:cNvSpPr/>
          <p:nvPr/>
        </p:nvSpPr>
        <p:spPr>
          <a:xfrm>
            <a:off x="11338596" y="0"/>
            <a:ext cx="6949327" cy="10286985"/>
          </a:xfrm>
          <a:prstGeom prst="rect">
            <a:avLst/>
          </a:prstGeom>
          <a:solidFill>
            <a:srgbClr val="000000"/>
          </a:solidFill>
          <a:ln/>
        </p:spPr>
      </p:sp>
      <p:pic>
        <p:nvPicPr>
          <p:cNvPr id="9" name="Image 0" descr="preencoded.png">    </p:cNvPr>
          <p:cNvPicPr>
            <a:picLocks noChangeAspect="1"/>
          </p:cNvPicPr>
          <p:nvPr/>
        </p:nvPicPr>
        <p:blipFill>
          <a:blip r:embed="rId1"/>
          <a:srcRect l="0" r="0" t="386" b="386"/>
          <a:stretch/>
        </p:blipFill>
        <p:spPr>
          <a:xfrm>
            <a:off x="11338596" y="0"/>
            <a:ext cx="6949327" cy="102869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90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40000"/>
          </a:blip>
          <a:srcRect l="0" r="0" t="13895" b="13895"/>
          <a:stretch/>
        </p:blipFill>
        <p:spPr>
          <a:xfrm>
            <a:off x="0" y="0"/>
            <a:ext cx="18287923" cy="10286985"/>
          </a:xfrm>
          <a:prstGeom prst="rect">
            <a:avLst/>
          </a:prstGeom>
        </p:spPr>
      </p:pic>
      <p:sp>
        <p:nvSpPr>
          <p:cNvPr id="3" name="Shape 0"/>
          <p:cNvSpPr/>
          <p:nvPr/>
        </p:nvSpPr>
        <p:spPr>
          <a:xfrm>
            <a:off x="0" y="0"/>
            <a:ext cx="18287923" cy="10286985"/>
          </a:xfrm>
          <a:prstGeom prst="rect">
            <a:avLst/>
          </a:prstGeom>
          <a:gradFill rotWithShape="1">
            <a:gsLst>
              <a:gs pos="0">
                <a:srgbClr val="0A0908">
                  <a:alpha val="86000"/>
                </a:srgbClr>
              </a:gs>
              <a:gs pos="45000">
                <a:srgbClr val="0A0908">
                  <a:alpha val="55000"/>
                </a:srgbClr>
              </a:gs>
              <a:gs pos="100000">
                <a:srgbClr val="0A0908">
                  <a:alpha val="92000"/>
                </a:srgbClr>
              </a:gs>
            </a:gsLst>
            <a:lin ang="5400000" scaled="0"/>
          </a:gradFill>
          <a:ln/>
        </p:spPr>
      </p:sp>
      <p:sp>
        <p:nvSpPr>
          <p:cNvPr id="4" name="Text 1"/>
          <p:cNvSpPr/>
          <p:nvPr/>
        </p:nvSpPr>
        <p:spPr>
          <a:xfrm>
            <a:off x="1619175" y="3380397"/>
            <a:ext cx="16554531" cy="295069"/>
          </a:xfrm>
          <a:prstGeom prst="rect">
            <a:avLst/>
          </a:prstGeom>
          <a:noFill/>
          <a:ln/>
        </p:spPr>
        <p:txBody>
          <a:bodyPr wrap="square" lIns="25400" tIns="25400" rIns="25400" bIns="25400" rtlCol="0" anchor="t">
            <a:normAutofit/>
          </a:bodyPr>
          <a:lstStyle/>
          <a:p>
            <a:pPr algn="l" indent="0" marL="0">
              <a:buNone/>
            </a:pPr>
            <a:r>
              <a:rPr lang="en-US" sz="1350" spc="378" kern="0" dirty="0">
                <a:solidFill>
                  <a:srgbClr val="CDBF9A"/>
                </a:solidFill>
                <a:latin typeface="Courier New" pitchFamily="34" charset="0"/>
                <a:ea typeface="Courier New" pitchFamily="34" charset="-122"/>
                <a:cs typeface="Courier New" pitchFamily="34" charset="-120"/>
              </a:rPr>
              <a:t>AFTER RECONSTRUCTION. AFTER JIM CROW. AFTER CONVICT LEASING. AFTER COINTELPRO.</a:t>
            </a:r>
            <a:endParaRPr lang="en-US" sz="1350" dirty="0"/>
          </a:p>
        </p:txBody>
      </p:sp>
      <p:sp>
        <p:nvSpPr>
          <p:cNvPr id="5" name="Text 2"/>
          <p:cNvSpPr/>
          <p:nvPr/>
        </p:nvSpPr>
        <p:spPr>
          <a:xfrm>
            <a:off x="1619175" y="3999265"/>
            <a:ext cx="16554531" cy="1336509"/>
          </a:xfrm>
          <a:prstGeom prst="rect">
            <a:avLst/>
          </a:prstGeom>
          <a:noFill/>
          <a:ln/>
        </p:spPr>
        <p:txBody>
          <a:bodyPr wrap="square" lIns="25400" tIns="25400" rIns="25400" bIns="25400" rtlCol="0" anchor="t">
            <a:normAutofit/>
          </a:bodyPr>
          <a:lstStyle/>
          <a:p>
            <a:pPr algn="l" indent="0" marL="0">
              <a:lnSpc>
                <a:spcPct val="96000"/>
              </a:lnSpc>
              <a:buNone/>
            </a:pPr>
            <a:r>
              <a:rPr lang="en-US" sz="10650" b="1" spc="-160" kern="0" dirty="0">
                <a:solidFill>
                  <a:srgbClr val="EFE9DC"/>
                </a:solidFill>
                <a:latin typeface="Georgia" pitchFamily="34" charset="0"/>
                <a:ea typeface="Georgia" pitchFamily="34" charset="-122"/>
                <a:cs typeface="Georgia" pitchFamily="34" charset="-120"/>
              </a:rPr>
              <a:t>We built again.</a:t>
            </a:r>
            <a:endParaRPr lang="en-US" sz="10650" dirty="0"/>
          </a:p>
        </p:txBody>
      </p:sp>
      <p:sp>
        <p:nvSpPr>
          <p:cNvPr id="6" name="Text 3"/>
          <p:cNvSpPr/>
          <p:nvPr/>
        </p:nvSpPr>
        <p:spPr>
          <a:xfrm>
            <a:off x="1619175" y="5583374"/>
            <a:ext cx="16554531" cy="666247"/>
          </a:xfrm>
          <a:prstGeom prst="rect">
            <a:avLst/>
          </a:prstGeom>
          <a:noFill/>
          <a:ln/>
        </p:spPr>
        <p:txBody>
          <a:bodyPr wrap="square" lIns="25400" tIns="25400" rIns="25400" bIns="25400" rtlCol="0" anchor="t">
            <a:normAutofit/>
          </a:bodyPr>
          <a:lstStyle/>
          <a:p>
            <a:pPr algn="l" indent="0" marL="0">
              <a:buNone/>
            </a:pPr>
            <a:r>
              <a:rPr lang="en-US" sz="4350" i="1" dirty="0">
                <a:solidFill>
                  <a:srgbClr val="CDBF9A"/>
                </a:solidFill>
                <a:latin typeface="Georgia" pitchFamily="34" charset="0"/>
                <a:ea typeface="Georgia" pitchFamily="34" charset="-122"/>
                <a:cs typeface="Georgia" pitchFamily="34" charset="-120"/>
              </a:rPr>
              <a:t>Every. Single. Time.</a:t>
            </a:r>
            <a:endParaRPr lang="en-US" sz="4350" dirty="0"/>
          </a:p>
        </p:txBody>
      </p:sp>
      <p:sp>
        <p:nvSpPr>
          <p:cNvPr id="7" name="Text 4"/>
          <p:cNvSpPr/>
          <p:nvPr/>
        </p:nvSpPr>
        <p:spPr>
          <a:xfrm>
            <a:off x="1619175" y="6649619"/>
            <a:ext cx="16554531" cy="295069"/>
          </a:xfrm>
          <a:prstGeom prst="rect">
            <a:avLst/>
          </a:prstGeom>
          <a:noFill/>
          <a:ln/>
        </p:spPr>
        <p:txBody>
          <a:bodyPr wrap="square" lIns="25400" tIns="25400" rIns="25400" bIns="25400" rtlCol="0" anchor="t">
            <a:normAutofit/>
          </a:bodyPr>
          <a:lstStyle/>
          <a:p>
            <a:pPr algn="l" indent="0" marL="0">
              <a:buNone/>
            </a:pPr>
            <a:r>
              <a:rPr lang="en-US" sz="1350" spc="162" kern="0" dirty="0">
                <a:solidFill>
                  <a:srgbClr val="EFE9DC">
                    <a:alpha val="55000"/>
                  </a:srgbClr>
                </a:solidFill>
                <a:latin typeface="Courier New" pitchFamily="34" charset="0"/>
                <a:ea typeface="Courier New" pitchFamily="34" charset="-122"/>
                <a:cs typeface="Courier New" pitchFamily="34" charset="-120"/>
              </a:rPr>
              <a:t>THAT’S NOT MYTH. THAT’S INHERITANCE.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CE7DB"/>
        </a:solidFill>
      </p:bgPr>
    </p:bg>
    <p:spTree>
      <p:nvGrpSpPr>
        <p:cNvPr id="1" name=""/>
        <p:cNvGrpSpPr/>
        <p:nvPr/>
      </p:nvGrpSpPr>
      <p:grpSpPr>
        <a:xfrm>
          <a:off x="0" y="0"/>
          <a:ext cx="0" cy="0"/>
          <a:chOff x="0" y="0"/>
          <a:chExt cx="0" cy="0"/>
        </a:xfrm>
      </p:grpSpPr>
      <p:sp>
        <p:nvSpPr>
          <p:cNvPr id="2" name="Text 0"/>
          <p:cNvSpPr/>
          <p:nvPr/>
        </p:nvSpPr>
        <p:spPr>
          <a:xfrm>
            <a:off x="1619175" y="2904825"/>
            <a:ext cx="16554531" cy="300780"/>
          </a:xfrm>
          <a:prstGeom prst="rect">
            <a:avLst/>
          </a:prstGeom>
          <a:noFill/>
          <a:ln/>
        </p:spPr>
        <p:txBody>
          <a:bodyPr wrap="square" lIns="25400" tIns="25400" rIns="25400" bIns="25400" rtlCol="0" anchor="t">
            <a:normAutofit/>
          </a:bodyPr>
          <a:lstStyle/>
          <a:p>
            <a:pPr algn="l" indent="0" marL="0">
              <a:buNone/>
            </a:pPr>
            <a:r>
              <a:rPr lang="en-US" sz="1425" spc="570" kern="0" dirty="0">
                <a:solidFill>
                  <a:srgbClr val="9A7438"/>
                </a:solidFill>
                <a:latin typeface="Courier New" pitchFamily="34" charset="0"/>
                <a:ea typeface="Courier New" pitchFamily="34" charset="-122"/>
                <a:cs typeface="Courier New" pitchFamily="34" charset="-120"/>
              </a:rPr>
              <a:t>🜂 THE MOVEMENT · WHAT WE DO</a:t>
            </a:r>
            <a:endParaRPr lang="en-US" sz="1425" dirty="0"/>
          </a:p>
        </p:txBody>
      </p:sp>
      <p:sp>
        <p:nvSpPr>
          <p:cNvPr id="3" name="Text 1"/>
          <p:cNvSpPr/>
          <p:nvPr/>
        </p:nvSpPr>
        <p:spPr>
          <a:xfrm>
            <a:off x="1619175" y="3643701"/>
            <a:ext cx="14716124" cy="1866866"/>
          </a:xfrm>
          <a:prstGeom prst="rect">
            <a:avLst/>
          </a:prstGeom>
          <a:noFill/>
          <a:ln/>
        </p:spPr>
        <p:txBody>
          <a:bodyPr wrap="square" lIns="25400" tIns="25400" rIns="25400" bIns="25400" rtlCol="0" anchor="t">
            <a:normAutofit/>
          </a:bodyPr>
          <a:lstStyle/>
          <a:p>
            <a:pPr algn="l" indent="0" marL="0">
              <a:lnSpc>
                <a:spcPct val="100000"/>
              </a:lnSpc>
              <a:buNone/>
            </a:pPr>
            <a:r>
              <a:rPr lang="en-US" sz="7200" spc="-72" kern="0" dirty="0">
                <a:solidFill>
                  <a:srgbClr val="16120B"/>
                </a:solidFill>
                <a:latin typeface="Georgia" pitchFamily="34" charset="0"/>
                <a:ea typeface="Georgia" pitchFamily="34" charset="-122"/>
                <a:cs typeface="Georgia" pitchFamily="34" charset="-120"/>
              </a:rPr>
              <a:t>Scattered men get ignored. </a:t>
            </a:r>
            <a:pPr algn="l" indent="0" marL="0">
              <a:lnSpc>
                <a:spcPct val="100000"/>
              </a:lnSpc>
              <a:buNone/>
            </a:pPr>
            <a:r>
              <a:rPr lang="en-US" sz="7200" i="1" spc="-72" kern="0" dirty="0">
                <a:solidFill>
                  <a:srgbClr val="9A7438"/>
                </a:solidFill>
                <a:latin typeface="Georgia" pitchFamily="34" charset="0"/>
                <a:ea typeface="Georgia" pitchFamily="34" charset="-122"/>
                <a:cs typeface="Georgia" pitchFamily="34" charset="-120"/>
              </a:rPr>
              <a:t>Organized men change outcomes.</a:t>
            </a:r>
            <a:endParaRPr lang="en-US" sz="7200" dirty="0"/>
          </a:p>
        </p:txBody>
      </p:sp>
      <p:sp>
        <p:nvSpPr>
          <p:cNvPr id="4" name="Text 2"/>
          <p:cNvSpPr/>
          <p:nvPr/>
        </p:nvSpPr>
        <p:spPr>
          <a:xfrm>
            <a:off x="1619175" y="5967757"/>
            <a:ext cx="11772862" cy="1452502"/>
          </a:xfrm>
          <a:prstGeom prst="rect">
            <a:avLst/>
          </a:prstGeom>
          <a:noFill/>
          <a:ln/>
        </p:spPr>
        <p:txBody>
          <a:bodyPr wrap="square" lIns="25400" tIns="25400" rIns="25400" bIns="25400" rtlCol="0" anchor="t">
            <a:normAutofit/>
          </a:bodyPr>
          <a:lstStyle/>
          <a:p>
            <a:pPr algn="l" indent="0" marL="0">
              <a:lnSpc>
                <a:spcPct val="150000"/>
              </a:lnSpc>
              <a:buNone/>
            </a:pPr>
            <a:r>
              <a:rPr lang="en-US" sz="2475" dirty="0">
                <a:solidFill>
                  <a:srgbClr val="16120B">
                    <a:alpha val="64000"/>
                  </a:srgbClr>
                </a:solidFill>
                <a:latin typeface="Helvetica" pitchFamily="34" charset="0"/>
                <a:ea typeface="Helvetica" pitchFamily="34" charset="-122"/>
                <a:cs typeface="Helvetica" pitchFamily="34" charset="-120"/>
              </a:rPr>
              <a:t>Fifteen hundred organized men can change outcomes that fifteen thousand scattered men cannot. Not men who agree on everything — men disciplined enough to build anyway.</a:t>
            </a:r>
            <a:endParaRPr lang="en-US" sz="24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908"/>
        </a:solidFill>
      </p:bgPr>
    </p:bg>
    <p:spTree>
      <p:nvGrpSpPr>
        <p:cNvPr id="1" name=""/>
        <p:cNvGrpSpPr/>
        <p:nvPr/>
      </p:nvGrpSpPr>
      <p:grpSpPr>
        <a:xfrm>
          <a:off x="0" y="0"/>
          <a:ext cx="0" cy="0"/>
          <a:chOff x="0" y="0"/>
          <a:chExt cx="0" cy="0"/>
        </a:xfrm>
      </p:grpSpPr>
      <p:sp>
        <p:nvSpPr>
          <p:cNvPr id="2" name="Text 0"/>
          <p:cNvSpPr/>
          <p:nvPr/>
        </p:nvSpPr>
        <p:spPr>
          <a:xfrm>
            <a:off x="1904964" y="2299430"/>
            <a:ext cx="15925795" cy="295069"/>
          </a:xfrm>
          <a:prstGeom prst="rect">
            <a:avLst/>
          </a:prstGeom>
          <a:noFill/>
          <a:ln/>
        </p:spPr>
        <p:txBody>
          <a:bodyPr wrap="square" lIns="25400" tIns="25400" rIns="25400" bIns="25400" rtlCol="0" anchor="t">
            <a:normAutofit/>
          </a:bodyPr>
          <a:lstStyle/>
          <a:p>
            <a:pPr algn="l" indent="0" marL="0">
              <a:buNone/>
            </a:pPr>
            <a:r>
              <a:rPr lang="en-US" sz="1350" spc="459" kern="0" dirty="0">
                <a:solidFill>
                  <a:srgbClr val="B89160"/>
                </a:solidFill>
                <a:latin typeface="Courier New" pitchFamily="34" charset="0"/>
                <a:ea typeface="Courier New" pitchFamily="34" charset="-122"/>
                <a:cs typeface="Courier New" pitchFamily="34" charset="-120"/>
              </a:rPr>
              <a:t>🜂 WHAT WE BUILD</a:t>
            </a:r>
            <a:endParaRPr lang="en-US" sz="1350" dirty="0"/>
          </a:p>
        </p:txBody>
      </p:sp>
      <p:sp>
        <p:nvSpPr>
          <p:cNvPr id="3" name="Text 1"/>
          <p:cNvSpPr/>
          <p:nvPr/>
        </p:nvSpPr>
        <p:spPr>
          <a:xfrm>
            <a:off x="1904964" y="3070695"/>
            <a:ext cx="14323609" cy="4158890"/>
          </a:xfrm>
          <a:prstGeom prst="rect">
            <a:avLst/>
          </a:prstGeom>
          <a:noFill/>
          <a:ln/>
        </p:spPr>
        <p:txBody>
          <a:bodyPr wrap="square" lIns="25400" tIns="25400" rIns="25400" bIns="25400" rtlCol="0" anchor="t">
            <a:normAutofit/>
          </a:bodyPr>
          <a:lstStyle/>
          <a:p>
            <a:pPr algn="l" indent="0" marL="0">
              <a:lnSpc>
                <a:spcPct val="104000"/>
              </a:lnSpc>
              <a:buNone/>
            </a:pPr>
            <a:r>
              <a:rPr lang="en-US" sz="7800" spc="-78" kern="0" dirty="0">
                <a:solidFill>
                  <a:srgbClr val="EFE9DC"/>
                </a:solidFill>
                <a:latin typeface="Georgia" pitchFamily="34" charset="0"/>
                <a:ea typeface="Georgia" pitchFamily="34" charset="-122"/>
                <a:cs typeface="Georgia" pitchFamily="34" charset="-120"/>
              </a:rPr>
              <a:t>We’re not building a list of programs. We’re building </a:t>
            </a:r>
            <a:pPr algn="l" indent="0" marL="0">
              <a:lnSpc>
                <a:spcPct val="104000"/>
              </a:lnSpc>
              <a:buNone/>
            </a:pPr>
            <a:r>
              <a:rPr lang="en-US" sz="7800" i="1" spc="-78" kern="0" dirty="0">
                <a:solidFill>
                  <a:srgbClr val="CDBF9A"/>
                </a:solidFill>
                <a:latin typeface="Georgia" pitchFamily="34" charset="0"/>
                <a:ea typeface="Georgia" pitchFamily="34" charset="-122"/>
                <a:cs typeface="Georgia" pitchFamily="34" charset="-120"/>
              </a:rPr>
              <a:t>leverage </a:t>
            </a:r>
            <a:pPr algn="l" indent="0" marL="0">
              <a:lnSpc>
                <a:spcPct val="104000"/>
              </a:lnSpc>
              <a:buNone/>
            </a:pPr>
            <a:r>
              <a:rPr lang="en-US" sz="7800" spc="-78" kern="0" dirty="0">
                <a:solidFill>
                  <a:srgbClr val="EFE9DC"/>
                </a:solidFill>
                <a:latin typeface="Georgia" pitchFamily="34" charset="0"/>
                <a:ea typeface="Georgia" pitchFamily="34" charset="-122"/>
                <a:cs typeface="Georgia" pitchFamily="34" charset="-120"/>
              </a:rPr>
              <a:t>— and leverage makes everything else possible.</a:t>
            </a:r>
            <a:endParaRPr lang="en-US" sz="7800" dirty="0"/>
          </a:p>
        </p:txBody>
      </p:sp>
      <p:sp>
        <p:nvSpPr>
          <p:cNvPr id="4" name="Text 2"/>
          <p:cNvSpPr/>
          <p:nvPr/>
        </p:nvSpPr>
        <p:spPr>
          <a:xfrm>
            <a:off x="1904964" y="7724875"/>
            <a:ext cx="15925795" cy="300780"/>
          </a:xfrm>
          <a:prstGeom prst="rect">
            <a:avLst/>
          </a:prstGeom>
          <a:noFill/>
          <a:ln/>
        </p:spPr>
        <p:txBody>
          <a:bodyPr wrap="square" lIns="25400" tIns="25400" rIns="25400" bIns="25400" rtlCol="0" anchor="t">
            <a:normAutofit/>
          </a:bodyPr>
          <a:lstStyle/>
          <a:p>
            <a:pPr algn="l" indent="0" marL="0">
              <a:buNone/>
            </a:pPr>
            <a:r>
              <a:rPr lang="en-US" sz="1425" spc="142" kern="0" dirty="0">
                <a:solidFill>
                  <a:srgbClr val="EFE9DC">
                    <a:alpha val="50000"/>
                  </a:srgbClr>
                </a:solidFill>
                <a:latin typeface="Courier New" pitchFamily="34" charset="0"/>
                <a:ea typeface="Courier New" pitchFamily="34" charset="-122"/>
                <a:cs typeface="Courier New" pitchFamily="34" charset="-120"/>
              </a:rPr>
              <a:t>THE HOW COMES NEXT.</a:t>
            </a:r>
            <a:endParaRPr lang="en-US" sz="14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90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40000"/>
          </a:blip>
          <a:srcRect l="7071" r="7071" t="0" b="0"/>
          <a:stretch/>
        </p:blipFill>
        <p:spPr>
          <a:xfrm>
            <a:off x="0" y="0"/>
            <a:ext cx="18287923" cy="10286985"/>
          </a:xfrm>
          <a:prstGeom prst="rect">
            <a:avLst/>
          </a:prstGeom>
        </p:spPr>
      </p:pic>
      <p:sp>
        <p:nvSpPr>
          <p:cNvPr id="3" name="Shape 0"/>
          <p:cNvSpPr/>
          <p:nvPr/>
        </p:nvSpPr>
        <p:spPr>
          <a:xfrm>
            <a:off x="0" y="0"/>
            <a:ext cx="18287923" cy="10286985"/>
          </a:xfrm>
          <a:prstGeom prst="rect">
            <a:avLst/>
          </a:prstGeom>
          <a:gradFill rotWithShape="1">
            <a:gsLst>
              <a:gs pos="40000">
                <a:srgbClr val="0A0908">
                  <a:alpha val="94000"/>
                </a:srgbClr>
              </a:gs>
              <a:gs pos="100000">
                <a:srgbClr val="0A0908">
                  <a:alpha val="45000"/>
                </a:srgbClr>
              </a:gs>
            </a:gsLst>
            <a:lin ang="0" scaled="0"/>
          </a:gradFill>
          <a:ln/>
        </p:spPr>
      </p:sp>
      <p:sp>
        <p:nvSpPr>
          <p:cNvPr id="4" name="Text 1"/>
          <p:cNvSpPr/>
          <p:nvPr/>
        </p:nvSpPr>
        <p:spPr>
          <a:xfrm>
            <a:off x="1619175" y="3443568"/>
            <a:ext cx="16554531" cy="300780"/>
          </a:xfrm>
          <a:prstGeom prst="rect">
            <a:avLst/>
          </a:prstGeom>
          <a:noFill/>
          <a:ln/>
        </p:spPr>
        <p:txBody>
          <a:bodyPr wrap="square" lIns="25400" tIns="25400" rIns="25400" bIns="25400" rtlCol="0" anchor="t">
            <a:normAutofit/>
          </a:bodyPr>
          <a:lstStyle/>
          <a:p>
            <a:pPr algn="l" indent="0" marL="0">
              <a:buNone/>
            </a:pPr>
            <a:r>
              <a:rPr lang="en-US" sz="1425" spc="570" kern="0" dirty="0">
                <a:solidFill>
                  <a:srgbClr val="CDBF9A"/>
                </a:solidFill>
                <a:latin typeface="Courier New" pitchFamily="34" charset="0"/>
                <a:ea typeface="Courier New" pitchFamily="34" charset="-122"/>
                <a:cs typeface="Courier New" pitchFamily="34" charset="-120"/>
              </a:rPr>
              <a:t>🜂 LEVERAGE · HOW WE BUILD</a:t>
            </a:r>
            <a:endParaRPr lang="en-US" sz="1425" dirty="0"/>
          </a:p>
        </p:txBody>
      </p:sp>
      <p:sp>
        <p:nvSpPr>
          <p:cNvPr id="5" name="Text 2"/>
          <p:cNvSpPr/>
          <p:nvPr/>
        </p:nvSpPr>
        <p:spPr>
          <a:xfrm>
            <a:off x="1619175" y="4182445"/>
            <a:ext cx="12557707" cy="1943064"/>
          </a:xfrm>
          <a:prstGeom prst="rect">
            <a:avLst/>
          </a:prstGeom>
          <a:noFill/>
          <a:ln/>
        </p:spPr>
        <p:txBody>
          <a:bodyPr wrap="square" lIns="25400" tIns="25400" rIns="25400" bIns="25400" rtlCol="0" anchor="t">
            <a:normAutofit/>
          </a:bodyPr>
          <a:lstStyle/>
          <a:p>
            <a:pPr algn="l" indent="0" marL="0">
              <a:lnSpc>
                <a:spcPct val="100000"/>
              </a:lnSpc>
              <a:buNone/>
            </a:pPr>
            <a:r>
              <a:rPr lang="en-US" sz="7500" spc="-75" kern="0" dirty="0">
                <a:solidFill>
                  <a:srgbClr val="EFE9DC"/>
                </a:solidFill>
                <a:latin typeface="Georgia" pitchFamily="34" charset="0"/>
                <a:ea typeface="Georgia" pitchFamily="34" charset="-122"/>
                <a:cs typeface="Georgia" pitchFamily="34" charset="-120"/>
              </a:rPr>
              <a:t>Organized people, by district, with </a:t>
            </a:r>
            <a:pPr algn="l" indent="0" marL="0">
              <a:lnSpc>
                <a:spcPct val="100000"/>
              </a:lnSpc>
              <a:buNone/>
            </a:pPr>
            <a:r>
              <a:rPr lang="en-US" sz="7500" i="1" spc="-75" kern="0" dirty="0">
                <a:solidFill>
                  <a:srgbClr val="CDBF9A"/>
                </a:solidFill>
                <a:latin typeface="Georgia" pitchFamily="34" charset="0"/>
                <a:ea typeface="Georgia" pitchFamily="34" charset="-122"/>
                <a:cs typeface="Georgia" pitchFamily="34" charset="-120"/>
              </a:rPr>
              <a:t>real consequences.</a:t>
            </a:r>
            <a:endParaRPr lang="en-US" sz="7500" dirty="0"/>
          </a:p>
        </p:txBody>
      </p:sp>
      <p:sp>
        <p:nvSpPr>
          <p:cNvPr id="6" name="Text 3"/>
          <p:cNvSpPr/>
          <p:nvPr/>
        </p:nvSpPr>
        <p:spPr>
          <a:xfrm>
            <a:off x="1619175" y="6563605"/>
            <a:ext cx="16554531" cy="317911"/>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EFE9DC">
                    <a:alpha val="62000"/>
                  </a:srgbClr>
                </a:solidFill>
                <a:latin typeface="Courier New" pitchFamily="34" charset="0"/>
                <a:ea typeface="Courier New" pitchFamily="34" charset="-122"/>
                <a:cs typeface="Courier New" pitchFamily="34" charset="-120"/>
              </a:rPr>
              <a:t>THAT’S HOW CHANGE ACTUALLY HAPPENS.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CE7DB"/>
        </a:solidFill>
      </p:bgPr>
    </p:bg>
    <p:spTree>
      <p:nvGrpSpPr>
        <p:cNvPr id="1" name=""/>
        <p:cNvGrpSpPr/>
        <p:nvPr/>
      </p:nvGrpSpPr>
      <p:grpSpPr>
        <a:xfrm>
          <a:off x="0" y="0"/>
          <a:ext cx="0" cy="0"/>
          <a:chOff x="0" y="0"/>
          <a:chExt cx="0" cy="0"/>
        </a:xfrm>
      </p:grpSpPr>
      <p:sp>
        <p:nvSpPr>
          <p:cNvPr id="2" name="Text 0"/>
          <p:cNvSpPr/>
          <p:nvPr/>
        </p:nvSpPr>
        <p:spPr>
          <a:xfrm>
            <a:off x="1714468" y="2876362"/>
            <a:ext cx="16344887" cy="295069"/>
          </a:xfrm>
          <a:prstGeom prst="rect">
            <a:avLst/>
          </a:prstGeom>
          <a:noFill/>
          <a:ln/>
        </p:spPr>
        <p:txBody>
          <a:bodyPr wrap="square" lIns="25400" tIns="25400" rIns="25400" bIns="25400" rtlCol="0" anchor="t">
            <a:normAutofit/>
          </a:bodyPr>
          <a:lstStyle/>
          <a:p>
            <a:pPr algn="l" indent="0" marL="0">
              <a:buNone/>
            </a:pPr>
            <a:r>
              <a:rPr lang="en-US" sz="1350" spc="459" kern="0" dirty="0">
                <a:solidFill>
                  <a:srgbClr val="9A7438"/>
                </a:solidFill>
                <a:latin typeface="Courier New" pitchFamily="34" charset="0"/>
                <a:ea typeface="Courier New" pitchFamily="34" charset="-122"/>
                <a:cs typeface="Courier New" pitchFamily="34" charset="-120"/>
              </a:rPr>
              <a:t>🜂 POWER HELD IN EVERY REP’S SEAT</a:t>
            </a:r>
            <a:endParaRPr lang="en-US" sz="1350" dirty="0"/>
          </a:p>
        </p:txBody>
      </p:sp>
      <p:sp>
        <p:nvSpPr>
          <p:cNvPr id="3" name="Text 1"/>
          <p:cNvSpPr/>
          <p:nvPr/>
        </p:nvSpPr>
        <p:spPr>
          <a:xfrm>
            <a:off x="1714468" y="3609528"/>
            <a:ext cx="14519820" cy="2582365"/>
          </a:xfrm>
          <a:prstGeom prst="rect">
            <a:avLst/>
          </a:prstGeom>
          <a:noFill/>
          <a:ln/>
        </p:spPr>
        <p:txBody>
          <a:bodyPr wrap="square" lIns="25400" tIns="25400" rIns="25400" bIns="25400" rtlCol="0" anchor="t">
            <a:normAutofit/>
          </a:bodyPr>
          <a:lstStyle/>
          <a:p>
            <a:pPr algn="l" indent="0" marL="0">
              <a:lnSpc>
                <a:spcPct val="106000"/>
              </a:lnSpc>
              <a:buNone/>
            </a:pPr>
            <a:r>
              <a:rPr lang="en-US" sz="6300" spc="-63" kern="0" dirty="0">
                <a:solidFill>
                  <a:srgbClr val="16120B"/>
                </a:solidFill>
                <a:latin typeface="Georgia" pitchFamily="34" charset="0"/>
                <a:ea typeface="Georgia" pitchFamily="34" charset="-122"/>
                <a:cs typeface="Georgia" pitchFamily="34" charset="-120"/>
              </a:rPr>
              <a:t>Elected officials should know when </a:t>
            </a:r>
            <a:pPr algn="l" indent="0" marL="0">
              <a:lnSpc>
                <a:spcPct val="106000"/>
              </a:lnSpc>
              <a:buNone/>
            </a:pPr>
            <a:r>
              <a:rPr lang="en-US" sz="6300" spc="-63" kern="0" dirty="0">
                <a:solidFill>
                  <a:srgbClr val="9A7438"/>
                </a:solidFill>
                <a:latin typeface="Georgia" pitchFamily="34" charset="0"/>
                <a:ea typeface="Georgia" pitchFamily="34" charset="-122"/>
                <a:cs typeface="Georgia" pitchFamily="34" charset="-120"/>
              </a:rPr>
              <a:t>fifteen hundred engaged men </a:t>
            </a:r>
            <a:pPr algn="l" indent="0" marL="0">
              <a:lnSpc>
                <a:spcPct val="106000"/>
              </a:lnSpc>
              <a:buNone/>
            </a:pPr>
            <a:r>
              <a:rPr lang="en-US" sz="6300" spc="-63" kern="0" dirty="0">
                <a:solidFill>
                  <a:srgbClr val="16120B"/>
                </a:solidFill>
                <a:latin typeface="Georgia" pitchFamily="34" charset="0"/>
                <a:ea typeface="Georgia" pitchFamily="34" charset="-122"/>
                <a:cs typeface="Georgia" pitchFamily="34" charset="-120"/>
              </a:rPr>
              <a:t>in their district are </a:t>
            </a:r>
            <a:pPr algn="l" indent="0" marL="0">
              <a:lnSpc>
                <a:spcPct val="106000"/>
              </a:lnSpc>
              <a:buNone/>
            </a:pPr>
            <a:r>
              <a:rPr lang="en-US" sz="6300" spc="-63" kern="0" dirty="0">
                <a:solidFill>
                  <a:srgbClr val="9A7438"/>
                </a:solidFill>
                <a:latin typeface="Georgia" pitchFamily="34" charset="0"/>
                <a:ea typeface="Georgia" pitchFamily="34" charset="-122"/>
                <a:cs typeface="Georgia" pitchFamily="34" charset="-120"/>
              </a:rPr>
              <a:t>organized.</a:t>
            </a:r>
            <a:endParaRPr lang="en-US" sz="6300" dirty="0"/>
          </a:p>
        </p:txBody>
      </p:sp>
      <p:sp>
        <p:nvSpPr>
          <p:cNvPr id="4" name="Shape 2"/>
          <p:cNvSpPr/>
          <p:nvPr/>
        </p:nvSpPr>
        <p:spPr>
          <a:xfrm>
            <a:off x="1714468" y="6725282"/>
            <a:ext cx="5128503" cy="17131"/>
          </a:xfrm>
          <a:prstGeom prst="rect">
            <a:avLst/>
          </a:prstGeom>
          <a:solidFill>
            <a:srgbClr val="9A7438"/>
          </a:solidFill>
          <a:ln/>
        </p:spPr>
      </p:sp>
      <p:sp>
        <p:nvSpPr>
          <p:cNvPr id="5" name="Text 3"/>
          <p:cNvSpPr/>
          <p:nvPr/>
        </p:nvSpPr>
        <p:spPr>
          <a:xfrm>
            <a:off x="1714468" y="6913863"/>
            <a:ext cx="5641353" cy="534860"/>
          </a:xfrm>
          <a:prstGeom prst="rect">
            <a:avLst/>
          </a:prstGeom>
          <a:noFill/>
          <a:ln/>
        </p:spPr>
        <p:txBody>
          <a:bodyPr wrap="square" lIns="25400" tIns="25400" rIns="25400" bIns="25400" rtlCol="0" anchor="t">
            <a:normAutofit/>
          </a:bodyPr>
          <a:lstStyle/>
          <a:p>
            <a:pPr algn="l" indent="0" marL="0">
              <a:buNone/>
            </a:pPr>
            <a:r>
              <a:rPr lang="en-US" sz="3450" i="1" dirty="0">
                <a:solidFill>
                  <a:srgbClr val="2A2316"/>
                </a:solidFill>
                <a:latin typeface="Georgia" pitchFamily="34" charset="0"/>
                <a:ea typeface="Georgia" pitchFamily="34" charset="-122"/>
                <a:cs typeface="Georgia" pitchFamily="34" charset="-120"/>
              </a:rPr>
              <a:t>Too coordinated to ignore.</a:t>
            </a:r>
            <a:endParaRPr lang="en-US" sz="3450" dirty="0"/>
          </a:p>
        </p:txBody>
      </p:sp>
      <p:sp>
        <p:nvSpPr>
          <p:cNvPr id="6" name="Shape 4"/>
          <p:cNvSpPr/>
          <p:nvPr/>
        </p:nvSpPr>
        <p:spPr>
          <a:xfrm>
            <a:off x="7604956" y="6725282"/>
            <a:ext cx="4447801" cy="17131"/>
          </a:xfrm>
          <a:prstGeom prst="rect">
            <a:avLst/>
          </a:prstGeom>
          <a:solidFill>
            <a:srgbClr val="9A7438"/>
          </a:solidFill>
          <a:ln/>
        </p:spPr>
      </p:sp>
      <p:sp>
        <p:nvSpPr>
          <p:cNvPr id="7" name="Text 5"/>
          <p:cNvSpPr/>
          <p:nvPr/>
        </p:nvSpPr>
        <p:spPr>
          <a:xfrm>
            <a:off x="7604956" y="6913863"/>
            <a:ext cx="4892581" cy="534860"/>
          </a:xfrm>
          <a:prstGeom prst="rect">
            <a:avLst/>
          </a:prstGeom>
          <a:noFill/>
          <a:ln/>
        </p:spPr>
        <p:txBody>
          <a:bodyPr wrap="square" lIns="25400" tIns="25400" rIns="25400" bIns="25400" rtlCol="0" anchor="t">
            <a:normAutofit/>
          </a:bodyPr>
          <a:lstStyle/>
          <a:p>
            <a:pPr algn="l" indent="0" marL="0">
              <a:buNone/>
            </a:pPr>
            <a:r>
              <a:rPr lang="en-US" sz="3450" i="1" dirty="0">
                <a:solidFill>
                  <a:srgbClr val="2A2316"/>
                </a:solidFill>
                <a:latin typeface="Georgia" pitchFamily="34" charset="0"/>
                <a:ea typeface="Georgia" pitchFamily="34" charset="-122"/>
                <a:cs typeface="Georgia" pitchFamily="34" charset="-120"/>
              </a:rPr>
              <a:t>Too aligned to dismiss.</a:t>
            </a:r>
            <a:endParaRPr lang="en-US" sz="3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908"/>
        </a:solidFill>
      </p:bgPr>
    </p:bg>
    <p:spTree>
      <p:nvGrpSpPr>
        <p:cNvPr id="1" name=""/>
        <p:cNvGrpSpPr/>
        <p:nvPr/>
      </p:nvGrpSpPr>
      <p:grpSpPr>
        <a:xfrm>
          <a:off x="0" y="0"/>
          <a:ext cx="0" cy="0"/>
          <a:chOff x="0" y="0"/>
          <a:chExt cx="0" cy="0"/>
        </a:xfrm>
      </p:grpSpPr>
      <p:sp>
        <p:nvSpPr>
          <p:cNvPr id="2" name="Text 0"/>
          <p:cNvSpPr/>
          <p:nvPr/>
        </p:nvSpPr>
        <p:spPr>
          <a:xfrm>
            <a:off x="657150" y="2449239"/>
            <a:ext cx="16973623" cy="295069"/>
          </a:xfrm>
          <a:prstGeom prst="rect">
            <a:avLst/>
          </a:prstGeom>
          <a:noFill/>
          <a:ln/>
        </p:spPr>
        <p:txBody>
          <a:bodyPr wrap="square" lIns="25400" tIns="25400" rIns="25400" bIns="25400" rtlCol="0" anchor="t">
            <a:normAutofit/>
          </a:bodyPr>
          <a:lstStyle/>
          <a:p>
            <a:pPr algn="ctr" indent="0" marL="0">
              <a:buNone/>
            </a:pPr>
            <a:r>
              <a:rPr lang="en-US" sz="1350" spc="459" kern="0" dirty="0">
                <a:solidFill>
                  <a:srgbClr val="B89160"/>
                </a:solidFill>
                <a:latin typeface="Courier New" pitchFamily="34" charset="0"/>
                <a:ea typeface="Courier New" pitchFamily="34" charset="-122"/>
                <a:cs typeface="Courier New" pitchFamily="34" charset="-120"/>
              </a:rPr>
              <a:t>🜂 THREE DOORS — NO WRONG DOOR</a:t>
            </a:r>
            <a:endParaRPr lang="en-US" sz="1350" dirty="0"/>
          </a:p>
        </p:txBody>
      </p:sp>
      <p:sp>
        <p:nvSpPr>
          <p:cNvPr id="3" name="Shape 1"/>
          <p:cNvSpPr/>
          <p:nvPr/>
        </p:nvSpPr>
        <p:spPr>
          <a:xfrm>
            <a:off x="1428678" y="6883746"/>
            <a:ext cx="15430566" cy="9525"/>
          </a:xfrm>
          <a:prstGeom prst="rect">
            <a:avLst/>
          </a:prstGeom>
          <a:solidFill>
            <a:srgbClr val="B89160">
              <a:alpha val="35000"/>
            </a:srgbClr>
          </a:solidFill>
          <a:ln/>
        </p:spPr>
      </p:sp>
      <p:sp>
        <p:nvSpPr>
          <p:cNvPr id="4" name="Shape 2"/>
          <p:cNvSpPr/>
          <p:nvPr/>
        </p:nvSpPr>
        <p:spPr>
          <a:xfrm>
            <a:off x="1428678" y="3315798"/>
            <a:ext cx="15430566" cy="9525"/>
          </a:xfrm>
          <a:prstGeom prst="rect">
            <a:avLst/>
          </a:prstGeom>
          <a:solidFill>
            <a:srgbClr val="B89160">
              <a:alpha val="35000"/>
            </a:srgbClr>
          </a:solidFill>
          <a:ln/>
        </p:spPr>
      </p:sp>
      <p:sp>
        <p:nvSpPr>
          <p:cNvPr id="5" name="Shape 3"/>
          <p:cNvSpPr/>
          <p:nvPr/>
        </p:nvSpPr>
        <p:spPr>
          <a:xfrm>
            <a:off x="6566461" y="3321508"/>
            <a:ext cx="9525" cy="3562238"/>
          </a:xfrm>
          <a:prstGeom prst="rect">
            <a:avLst/>
          </a:prstGeom>
          <a:solidFill>
            <a:srgbClr val="B89160">
              <a:alpha val="20000"/>
            </a:srgbClr>
          </a:solidFill>
          <a:ln/>
        </p:spPr>
      </p:sp>
      <p:sp>
        <p:nvSpPr>
          <p:cNvPr id="6" name="Text 4"/>
          <p:cNvSpPr/>
          <p:nvPr/>
        </p:nvSpPr>
        <p:spPr>
          <a:xfrm>
            <a:off x="1962068" y="3931096"/>
            <a:ext cx="4478102" cy="295069"/>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B89160"/>
                </a:solidFill>
                <a:latin typeface="Courier New" pitchFamily="34" charset="0"/>
                <a:ea typeface="Courier New" pitchFamily="34" charset="-122"/>
                <a:cs typeface="Courier New" pitchFamily="34" charset="-120"/>
              </a:rPr>
              <a:t>01 / WHY</a:t>
            </a:r>
            <a:endParaRPr lang="en-US" sz="1350" dirty="0"/>
          </a:p>
        </p:txBody>
      </p:sp>
      <p:sp>
        <p:nvSpPr>
          <p:cNvPr id="7" name="Text 5"/>
          <p:cNvSpPr/>
          <p:nvPr/>
        </p:nvSpPr>
        <p:spPr>
          <a:xfrm>
            <a:off x="1962068" y="4397567"/>
            <a:ext cx="4478102" cy="590584"/>
          </a:xfrm>
          <a:prstGeom prst="rect">
            <a:avLst/>
          </a:prstGeom>
          <a:noFill/>
          <a:ln/>
        </p:spPr>
        <p:txBody>
          <a:bodyPr wrap="square" lIns="25400" tIns="25400" rIns="25400" bIns="25400" rtlCol="0" anchor="t">
            <a:normAutofit/>
          </a:bodyPr>
          <a:lstStyle/>
          <a:p>
            <a:pPr algn="l" indent="0" marL="0">
              <a:lnSpc>
                <a:spcPct val="100000"/>
              </a:lnSpc>
              <a:buNone/>
            </a:pPr>
            <a:r>
              <a:rPr lang="en-US" sz="4350" dirty="0">
                <a:solidFill>
                  <a:srgbClr val="EFE9DC"/>
                </a:solidFill>
                <a:latin typeface="Georgia" pitchFamily="34" charset="0"/>
                <a:ea typeface="Georgia" pitchFamily="34" charset="-122"/>
                <a:cs typeface="Georgia" pitchFamily="34" charset="-120"/>
              </a:rPr>
              <a:t>The Prophecy</a:t>
            </a:r>
            <a:endParaRPr lang="en-US" sz="4350" dirty="0"/>
          </a:p>
        </p:txBody>
      </p:sp>
      <p:sp>
        <p:nvSpPr>
          <p:cNvPr id="8" name="Text 6"/>
          <p:cNvSpPr/>
          <p:nvPr/>
        </p:nvSpPr>
        <p:spPr>
          <a:xfrm>
            <a:off x="1962068" y="5159553"/>
            <a:ext cx="4193132" cy="115270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EFE9DC">
                    <a:alpha val="58000"/>
                  </a:srgbClr>
                </a:solidFill>
                <a:latin typeface="Helvetica" pitchFamily="34" charset="0"/>
                <a:ea typeface="Helvetica" pitchFamily="34" charset="-122"/>
                <a:cs typeface="Helvetica" pitchFamily="34" charset="-120"/>
              </a:rPr>
              <a:t>Why we’re here. The timeline, the inheritance, the weight made into wisdom.</a:t>
            </a:r>
            <a:endParaRPr lang="en-US" sz="1950" dirty="0"/>
          </a:p>
        </p:txBody>
      </p:sp>
      <p:sp>
        <p:nvSpPr>
          <p:cNvPr id="9" name="Shape 7"/>
          <p:cNvSpPr/>
          <p:nvPr/>
        </p:nvSpPr>
        <p:spPr>
          <a:xfrm>
            <a:off x="11709953" y="3321508"/>
            <a:ext cx="9525" cy="3562238"/>
          </a:xfrm>
          <a:prstGeom prst="rect">
            <a:avLst/>
          </a:prstGeom>
          <a:solidFill>
            <a:srgbClr val="B89160">
              <a:alpha val="20000"/>
            </a:srgbClr>
          </a:solidFill>
          <a:ln/>
        </p:spPr>
      </p:sp>
      <p:sp>
        <p:nvSpPr>
          <p:cNvPr id="10" name="Text 8"/>
          <p:cNvSpPr/>
          <p:nvPr/>
        </p:nvSpPr>
        <p:spPr>
          <a:xfrm>
            <a:off x="7105561" y="3931096"/>
            <a:ext cx="4478102" cy="295069"/>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B89160"/>
                </a:solidFill>
                <a:latin typeface="Courier New" pitchFamily="34" charset="0"/>
                <a:ea typeface="Courier New" pitchFamily="34" charset="-122"/>
                <a:cs typeface="Courier New" pitchFamily="34" charset="-120"/>
              </a:rPr>
              <a:t>02 / WHAT</a:t>
            </a:r>
            <a:endParaRPr lang="en-US" sz="1350" dirty="0"/>
          </a:p>
        </p:txBody>
      </p:sp>
      <p:sp>
        <p:nvSpPr>
          <p:cNvPr id="11" name="Text 9"/>
          <p:cNvSpPr/>
          <p:nvPr/>
        </p:nvSpPr>
        <p:spPr>
          <a:xfrm>
            <a:off x="7105561" y="4397567"/>
            <a:ext cx="4478102" cy="590584"/>
          </a:xfrm>
          <a:prstGeom prst="rect">
            <a:avLst/>
          </a:prstGeom>
          <a:noFill/>
          <a:ln/>
        </p:spPr>
        <p:txBody>
          <a:bodyPr wrap="square" lIns="25400" tIns="25400" rIns="25400" bIns="25400" rtlCol="0" anchor="t">
            <a:normAutofit/>
          </a:bodyPr>
          <a:lstStyle/>
          <a:p>
            <a:pPr algn="l" indent="0" marL="0">
              <a:lnSpc>
                <a:spcPct val="100000"/>
              </a:lnSpc>
              <a:buNone/>
            </a:pPr>
            <a:r>
              <a:rPr lang="en-US" sz="4350" dirty="0">
                <a:solidFill>
                  <a:srgbClr val="EFE9DC"/>
                </a:solidFill>
                <a:latin typeface="Georgia" pitchFamily="34" charset="0"/>
                <a:ea typeface="Georgia" pitchFamily="34" charset="-122"/>
                <a:cs typeface="Georgia" pitchFamily="34" charset="-120"/>
              </a:rPr>
              <a:t>The Movement</a:t>
            </a:r>
            <a:endParaRPr lang="en-US" sz="4350" dirty="0"/>
          </a:p>
        </p:txBody>
      </p:sp>
      <p:sp>
        <p:nvSpPr>
          <p:cNvPr id="12" name="Text 10"/>
          <p:cNvSpPr/>
          <p:nvPr/>
        </p:nvSpPr>
        <p:spPr>
          <a:xfrm>
            <a:off x="7105561" y="5159553"/>
            <a:ext cx="4193132" cy="115270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EFE9DC">
                    <a:alpha val="58000"/>
                  </a:srgbClr>
                </a:solidFill>
                <a:latin typeface="Helvetica" pitchFamily="34" charset="0"/>
                <a:ea typeface="Helvetica" pitchFamily="34" charset="-122"/>
                <a:cs typeface="Helvetica" pitchFamily="34" charset="-120"/>
              </a:rPr>
              <a:t>What we do. Organized men, disciplined enough to change outcomes together.</a:t>
            </a:r>
            <a:endParaRPr lang="en-US" sz="1950" dirty="0"/>
          </a:p>
        </p:txBody>
      </p:sp>
      <p:sp>
        <p:nvSpPr>
          <p:cNvPr id="13" name="Text 11"/>
          <p:cNvSpPr/>
          <p:nvPr/>
        </p:nvSpPr>
        <p:spPr>
          <a:xfrm>
            <a:off x="12249053" y="3931096"/>
            <a:ext cx="4484384" cy="295069"/>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B89160"/>
                </a:solidFill>
                <a:latin typeface="Courier New" pitchFamily="34" charset="0"/>
                <a:ea typeface="Courier New" pitchFamily="34" charset="-122"/>
                <a:cs typeface="Courier New" pitchFamily="34" charset="-120"/>
              </a:rPr>
              <a:t>03 / HOW</a:t>
            </a:r>
            <a:endParaRPr lang="en-US" sz="1350" dirty="0"/>
          </a:p>
        </p:txBody>
      </p:sp>
      <p:sp>
        <p:nvSpPr>
          <p:cNvPr id="14" name="Text 12"/>
          <p:cNvSpPr/>
          <p:nvPr/>
        </p:nvSpPr>
        <p:spPr>
          <a:xfrm>
            <a:off x="12249053" y="4397567"/>
            <a:ext cx="4484384" cy="590584"/>
          </a:xfrm>
          <a:prstGeom prst="rect">
            <a:avLst/>
          </a:prstGeom>
          <a:noFill/>
          <a:ln/>
        </p:spPr>
        <p:txBody>
          <a:bodyPr wrap="square" lIns="25400" tIns="25400" rIns="25400" bIns="25400" rtlCol="0" anchor="t">
            <a:normAutofit/>
          </a:bodyPr>
          <a:lstStyle/>
          <a:p>
            <a:pPr algn="l" indent="0" marL="0">
              <a:lnSpc>
                <a:spcPct val="100000"/>
              </a:lnSpc>
              <a:buNone/>
            </a:pPr>
            <a:r>
              <a:rPr lang="en-US" sz="4350" dirty="0">
                <a:solidFill>
                  <a:srgbClr val="EFE9DC"/>
                </a:solidFill>
                <a:latin typeface="Georgia" pitchFamily="34" charset="0"/>
                <a:ea typeface="Georgia" pitchFamily="34" charset="-122"/>
                <a:cs typeface="Georgia" pitchFamily="34" charset="-120"/>
              </a:rPr>
              <a:t>Leverage</a:t>
            </a:r>
            <a:endParaRPr lang="en-US" sz="4350" dirty="0"/>
          </a:p>
        </p:txBody>
      </p:sp>
      <p:sp>
        <p:nvSpPr>
          <p:cNvPr id="15" name="Text 13"/>
          <p:cNvSpPr/>
          <p:nvPr/>
        </p:nvSpPr>
        <p:spPr>
          <a:xfrm>
            <a:off x="12249053" y="5159553"/>
            <a:ext cx="4199014" cy="115270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EFE9DC">
                    <a:alpha val="58000"/>
                  </a:srgbClr>
                </a:solidFill>
                <a:latin typeface="Helvetica" pitchFamily="34" charset="0"/>
                <a:ea typeface="Helvetica" pitchFamily="34" charset="-122"/>
                <a:cs typeface="Helvetica" pitchFamily="34" charset="-120"/>
              </a:rPr>
              <a:t>How we build. By district, with real consequences. Power held in every seat.</a:t>
            </a:r>
            <a:endParaRPr lang="en-US" sz="1950" dirty="0"/>
          </a:p>
        </p:txBody>
      </p:sp>
      <p:sp>
        <p:nvSpPr>
          <p:cNvPr id="16" name="Text 14"/>
          <p:cNvSpPr/>
          <p:nvPr/>
        </p:nvSpPr>
        <p:spPr>
          <a:xfrm>
            <a:off x="657150" y="7403752"/>
            <a:ext cx="16973623" cy="472093"/>
          </a:xfrm>
          <a:prstGeom prst="rect">
            <a:avLst/>
          </a:prstGeom>
          <a:noFill/>
          <a:ln/>
        </p:spPr>
        <p:txBody>
          <a:bodyPr wrap="square" lIns="25400" tIns="25400" rIns="25400" bIns="25400" rtlCol="0" anchor="t">
            <a:normAutofit/>
          </a:bodyPr>
          <a:lstStyle/>
          <a:p>
            <a:pPr algn="ctr" indent="0" marL="0">
              <a:buNone/>
            </a:pPr>
            <a:r>
              <a:rPr lang="en-US" sz="3000" i="1" dirty="0">
                <a:solidFill>
                  <a:srgbClr val="CDBF9A"/>
                </a:solidFill>
                <a:latin typeface="Georgia" pitchFamily="34" charset="0"/>
                <a:ea typeface="Georgia" pitchFamily="34" charset="-122"/>
                <a:cs typeface="Georgia" pitchFamily="34" charset="-120"/>
              </a:rPr>
              <a:t>Choose the one that speaks to you.</a:t>
            </a:r>
            <a:endParaRPr lang="en-US" sz="3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90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22000"/>
          </a:blip>
          <a:srcRect l="0" r="0" t="140" b="140"/>
          <a:stretch/>
        </p:blipFill>
        <p:spPr>
          <a:xfrm>
            <a:off x="0" y="0"/>
            <a:ext cx="18287923" cy="10286985"/>
          </a:xfrm>
          <a:prstGeom prst="rect">
            <a:avLst/>
          </a:prstGeom>
        </p:spPr>
      </p:pic>
      <p:sp>
        <p:nvSpPr>
          <p:cNvPr id="3" name="Shape 0"/>
          <p:cNvSpPr/>
          <p:nvPr/>
        </p:nvSpPr>
        <p:spPr>
          <a:xfrm>
            <a:off x="0" y="0"/>
            <a:ext cx="18287923" cy="10286985"/>
          </a:xfrm>
          <a:prstGeom prst="rect">
            <a:avLst/>
          </a:prstGeom>
          <a:gradFill rotWithShape="1">
            <a:gsLst>
              <a:gs pos="0">
                <a:srgbClr val="0A0908">
                  <a:alpha val="90000"/>
                </a:srgbClr>
              </a:gs>
              <a:gs pos="50000">
                <a:srgbClr val="0A0908">
                  <a:alpha val="60000"/>
                </a:srgbClr>
              </a:gs>
              <a:gs pos="100000">
                <a:srgbClr val="0A0908">
                  <a:alpha val="94000"/>
                </a:srgbClr>
              </a:gs>
            </a:gsLst>
            <a:lin ang="5400000" scaled="0"/>
          </a:gradFill>
          <a:ln/>
        </p:spPr>
      </p:sp>
      <p:sp>
        <p:nvSpPr>
          <p:cNvPr id="4" name="Text 1"/>
          <p:cNvSpPr/>
          <p:nvPr/>
        </p:nvSpPr>
        <p:spPr>
          <a:xfrm>
            <a:off x="1714468" y="3148767"/>
            <a:ext cx="16344887" cy="295069"/>
          </a:xfrm>
          <a:prstGeom prst="rect">
            <a:avLst/>
          </a:prstGeom>
          <a:noFill/>
          <a:ln/>
        </p:spPr>
        <p:txBody>
          <a:bodyPr wrap="square" lIns="25400" tIns="25400" rIns="25400" bIns="25400" rtlCol="0" anchor="t">
            <a:normAutofit/>
          </a:bodyPr>
          <a:lstStyle/>
          <a:p>
            <a:pPr algn="l" indent="0" marL="0">
              <a:buNone/>
            </a:pPr>
            <a:r>
              <a:rPr lang="en-US" sz="1350" spc="459" kern="0" dirty="0">
                <a:solidFill>
                  <a:srgbClr val="B89160"/>
                </a:solidFill>
                <a:latin typeface="Courier New" pitchFamily="34" charset="0"/>
                <a:ea typeface="Courier New" pitchFamily="34" charset="-122"/>
                <a:cs typeface="Courier New" pitchFamily="34" charset="-120"/>
              </a:rPr>
              <a:t>🜂 WHERE IT STARTS</a:t>
            </a:r>
            <a:endParaRPr lang="en-US" sz="1350" dirty="0"/>
          </a:p>
        </p:txBody>
      </p:sp>
      <p:sp>
        <p:nvSpPr>
          <p:cNvPr id="5" name="Text 2"/>
          <p:cNvSpPr/>
          <p:nvPr/>
        </p:nvSpPr>
        <p:spPr>
          <a:xfrm>
            <a:off x="1714468" y="3805735"/>
            <a:ext cx="15304758" cy="2427559"/>
          </a:xfrm>
          <a:prstGeom prst="rect">
            <a:avLst/>
          </a:prstGeom>
          <a:noFill/>
          <a:ln/>
        </p:spPr>
        <p:txBody>
          <a:bodyPr wrap="square" lIns="25400" tIns="25400" rIns="25400" bIns="25400" rtlCol="0" anchor="t">
            <a:normAutofit/>
          </a:bodyPr>
          <a:lstStyle/>
          <a:p>
            <a:pPr algn="l" indent="0" marL="0">
              <a:lnSpc>
                <a:spcPct val="98000"/>
              </a:lnSpc>
              <a:buNone/>
            </a:pPr>
            <a:r>
              <a:rPr lang="en-US" sz="9600" b="1" spc="-144" kern="0" dirty="0">
                <a:solidFill>
                  <a:srgbClr val="EFE9DC"/>
                </a:solidFill>
                <a:latin typeface="Georgia" pitchFamily="34" charset="0"/>
                <a:ea typeface="Georgia" pitchFamily="34" charset="-122"/>
                <a:cs typeface="Georgia" pitchFamily="34" charset="-120"/>
              </a:rPr>
              <a:t>It starts with the first </a:t>
            </a:r>
            <a:pPr algn="l" indent="0" marL="0">
              <a:lnSpc>
                <a:spcPct val="98000"/>
              </a:lnSpc>
              <a:buNone/>
            </a:pPr>
            <a:r>
              <a:rPr lang="en-US" sz="9600" b="1" i="1" spc="-144" kern="0" dirty="0">
                <a:solidFill>
                  <a:srgbClr val="CDBF9A"/>
                </a:solidFill>
                <a:latin typeface="Georgia" pitchFamily="34" charset="0"/>
                <a:ea typeface="Georgia" pitchFamily="34" charset="-122"/>
                <a:cs typeface="Georgia" pitchFamily="34" charset="-120"/>
              </a:rPr>
              <a:t>fifteen hundred.</a:t>
            </a:r>
            <a:endParaRPr lang="en-US" sz="9600" dirty="0"/>
          </a:p>
        </p:txBody>
      </p:sp>
      <p:sp>
        <p:nvSpPr>
          <p:cNvPr id="6" name="Text 3"/>
          <p:cNvSpPr/>
          <p:nvPr/>
        </p:nvSpPr>
        <p:spPr>
          <a:xfrm>
            <a:off x="1714468" y="6652385"/>
            <a:ext cx="10477499" cy="523933"/>
          </a:xfrm>
          <a:prstGeom prst="rect">
            <a:avLst/>
          </a:prstGeom>
          <a:noFill/>
          <a:ln/>
        </p:spPr>
        <p:txBody>
          <a:bodyPr wrap="square" lIns="25400" tIns="25400" rIns="25400" bIns="25400" rtlCol="0" anchor="t">
            <a:normAutofit/>
          </a:bodyPr>
          <a:lstStyle/>
          <a:p>
            <a:pPr algn="l" indent="0" marL="0">
              <a:lnSpc>
                <a:spcPct val="150000"/>
              </a:lnSpc>
              <a:buNone/>
            </a:pPr>
            <a:r>
              <a:rPr lang="en-US" sz="2550" dirty="0">
                <a:solidFill>
                  <a:srgbClr val="EFE9DC">
                    <a:alpha val="68000"/>
                  </a:srgbClr>
                </a:solidFill>
                <a:latin typeface="Helvetica" pitchFamily="34" charset="0"/>
                <a:ea typeface="Helvetica" pitchFamily="34" charset="-122"/>
                <a:cs typeface="Helvetica" pitchFamily="34" charset="-120"/>
              </a:rPr>
              <a:t>It doesn’t start with millions. Everything else grows from there.</a:t>
            </a:r>
            <a:endParaRPr lang="en-US" sz="2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908"/>
        </a:solidFill>
      </p:bgPr>
    </p:bg>
    <p:spTree>
      <p:nvGrpSpPr>
        <p:cNvPr id="1" name=""/>
        <p:cNvGrpSpPr/>
        <p:nvPr/>
      </p:nvGrpSpPr>
      <p:grpSpPr>
        <a:xfrm>
          <a:off x="0" y="0"/>
          <a:ext cx="0" cy="0"/>
          <a:chOff x="0" y="0"/>
          <a:chExt cx="0" cy="0"/>
        </a:xfrm>
      </p:grpSpPr>
      <p:sp>
        <p:nvSpPr>
          <p:cNvPr id="2" name="Text 0"/>
          <p:cNvSpPr/>
          <p:nvPr/>
        </p:nvSpPr>
        <p:spPr>
          <a:xfrm>
            <a:off x="1785855" y="3392442"/>
            <a:ext cx="14716124" cy="2177727"/>
          </a:xfrm>
          <a:prstGeom prst="rect">
            <a:avLst/>
          </a:prstGeom>
          <a:noFill/>
          <a:ln/>
        </p:spPr>
        <p:txBody>
          <a:bodyPr wrap="square" lIns="25400" tIns="25400" rIns="25400" bIns="25400" rtlCol="0" anchor="t">
            <a:normAutofit/>
          </a:bodyPr>
          <a:lstStyle/>
          <a:p>
            <a:pPr algn="ctr" indent="0" marL="0">
              <a:lnSpc>
                <a:spcPct val="104000"/>
              </a:lnSpc>
              <a:buNone/>
            </a:pPr>
            <a:r>
              <a:rPr lang="en-US" sz="8100" b="1" spc="-122" kern="0" dirty="0">
                <a:solidFill>
                  <a:srgbClr val="EFE9DC"/>
                </a:solidFill>
                <a:latin typeface="Georgia" pitchFamily="34" charset="0"/>
                <a:ea typeface="Georgia" pitchFamily="34" charset="-122"/>
                <a:cs typeface="Georgia" pitchFamily="34" charset="-120"/>
              </a:rPr>
              <a:t>History doesn’t remember the movements that waited.</a:t>
            </a:r>
            <a:endParaRPr lang="en-US" sz="8100" dirty="0"/>
          </a:p>
        </p:txBody>
      </p:sp>
      <p:sp>
        <p:nvSpPr>
          <p:cNvPr id="3" name="Text 1"/>
          <p:cNvSpPr/>
          <p:nvPr/>
        </p:nvSpPr>
        <p:spPr>
          <a:xfrm>
            <a:off x="3016339" y="5989261"/>
            <a:ext cx="12255156" cy="943293"/>
          </a:xfrm>
          <a:prstGeom prst="rect">
            <a:avLst/>
          </a:prstGeom>
          <a:noFill/>
          <a:ln/>
        </p:spPr>
        <p:txBody>
          <a:bodyPr wrap="square" lIns="25400" tIns="25400" rIns="25400" bIns="25400" rtlCol="0" anchor="t">
            <a:normAutofit/>
          </a:bodyPr>
          <a:lstStyle/>
          <a:p>
            <a:pPr algn="ctr" indent="0" marL="0">
              <a:lnSpc>
                <a:spcPct val="108000"/>
              </a:lnSpc>
              <a:buNone/>
            </a:pPr>
            <a:r>
              <a:rPr lang="en-US" sz="6600" i="1" dirty="0">
                <a:solidFill>
                  <a:srgbClr val="CDBF9A"/>
                </a:solidFill>
                <a:latin typeface="Georgia" pitchFamily="34" charset="0"/>
                <a:ea typeface="Georgia" pitchFamily="34" charset="-122"/>
                <a:cs typeface="Georgia" pitchFamily="34" charset="-120"/>
              </a:rPr>
              <a:t>It remembers the ones that organized.</a:t>
            </a:r>
            <a:endParaRPr lang="en-US" sz="6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908"/>
        </a:solidFill>
      </p:bgPr>
    </p:bg>
    <p:spTree>
      <p:nvGrpSpPr>
        <p:cNvPr id="1" name=""/>
        <p:cNvGrpSpPr/>
        <p:nvPr/>
      </p:nvGrpSpPr>
      <p:grpSpPr>
        <a:xfrm>
          <a:off x="0" y="0"/>
          <a:ext cx="0" cy="0"/>
          <a:chOff x="0" y="0"/>
          <a:chExt cx="0" cy="0"/>
        </a:xfrm>
      </p:grpSpPr>
      <p:sp>
        <p:nvSpPr>
          <p:cNvPr id="2" name="Text 0"/>
          <p:cNvSpPr/>
          <p:nvPr/>
        </p:nvSpPr>
        <p:spPr>
          <a:xfrm>
            <a:off x="5948658" y="2351895"/>
            <a:ext cx="6390607" cy="1264950"/>
          </a:xfrm>
          <a:prstGeom prst="rect">
            <a:avLst/>
          </a:prstGeom>
          <a:noFill/>
          <a:ln/>
        </p:spPr>
        <p:txBody>
          <a:bodyPr wrap="square" lIns="25400" tIns="25400" rIns="25400" bIns="25400" rtlCol="0" anchor="t">
            <a:normAutofit/>
          </a:bodyPr>
          <a:lstStyle/>
          <a:p>
            <a:pPr algn="ctr" indent="0" marL="0">
              <a:lnSpc>
                <a:spcPct val="140000"/>
              </a:lnSpc>
              <a:buNone/>
            </a:pPr>
            <a:r>
              <a:rPr lang="en-US" sz="3450" i="1" dirty="0">
                <a:solidFill>
                  <a:srgbClr val="EFE9DC">
                    <a:alpha val="66000"/>
                  </a:srgbClr>
                </a:solidFill>
                <a:latin typeface="Georgia" pitchFamily="34" charset="0"/>
                <a:ea typeface="Georgia" pitchFamily="34" charset="-122"/>
                <a:cs typeface="Georgia" pitchFamily="34" charset="-120"/>
              </a:rPr>
              <a:t>The prophecy was never the destination. It was the invitation.</a:t>
            </a:r>
            <a:endParaRPr lang="en-US" sz="3450" dirty="0"/>
          </a:p>
        </p:txBody>
      </p:sp>
      <p:sp>
        <p:nvSpPr>
          <p:cNvPr id="3" name="Text 1"/>
          <p:cNvSpPr/>
          <p:nvPr/>
        </p:nvSpPr>
        <p:spPr>
          <a:xfrm>
            <a:off x="4710570" y="3940643"/>
            <a:ext cx="8866694" cy="1344896"/>
          </a:xfrm>
          <a:prstGeom prst="rect">
            <a:avLst/>
          </a:prstGeom>
          <a:noFill/>
          <a:ln/>
        </p:spPr>
        <p:txBody>
          <a:bodyPr wrap="none" lIns="25400" tIns="25400" rIns="25400" bIns="25400" rtlCol="0" anchor="t">
            <a:normAutofit/>
          </a:bodyPr>
          <a:lstStyle/>
          <a:p>
            <a:pPr algn="ctr" indent="0" marL="0">
              <a:lnSpc>
                <a:spcPct val="98000"/>
              </a:lnSpc>
              <a:buNone/>
            </a:pPr>
            <a:r>
              <a:rPr lang="en-US" sz="10500" b="1" spc="-210" kern="0" dirty="0">
                <a:solidFill>
                  <a:srgbClr val="EFE9DC"/>
                </a:solidFill>
                <a:latin typeface="Georgia" pitchFamily="34" charset="0"/>
                <a:ea typeface="Georgia" pitchFamily="34" charset="-122"/>
                <a:cs typeface="Georgia" pitchFamily="34" charset="-120"/>
              </a:rPr>
              <a:t>Now we build.</a:t>
            </a:r>
            <a:endParaRPr lang="en-US" sz="10500" dirty="0"/>
          </a:p>
        </p:txBody>
      </p:sp>
      <p:sp>
        <p:nvSpPr>
          <p:cNvPr id="4" name="Shape 2"/>
          <p:cNvSpPr/>
          <p:nvPr/>
        </p:nvSpPr>
        <p:spPr>
          <a:xfrm>
            <a:off x="5719800" y="5799835"/>
            <a:ext cx="1409673" cy="1409673"/>
          </a:xfrm>
          <a:prstGeom prst="rect">
            <a:avLst/>
          </a:prstGeom>
          <a:solidFill>
            <a:srgbClr val="0A0908"/>
          </a:solidFill>
          <a:ln w="5710">
            <a:solidFill>
              <a:srgbClr val="B89160">
                <a:alpha val="45000"/>
              </a:srgbClr>
            </a:solidFill>
            <a:prstDash val="solid"/>
          </a:ln>
        </p:spPr>
      </p:sp>
      <p:pic>
        <p:nvPicPr>
          <p:cNvPr id="5" name="Image 0" descr="preencoded.png">    </p:cNvPr>
          <p:cNvPicPr>
            <a:picLocks noChangeAspect="1"/>
          </p:cNvPicPr>
          <p:nvPr/>
        </p:nvPicPr>
        <p:blipFill>
          <a:blip r:embed="rId1"/>
          <a:stretch>
            <a:fillRect/>
          </a:stretch>
        </p:blipFill>
        <p:spPr>
          <a:xfrm>
            <a:off x="5719800" y="5799835"/>
            <a:ext cx="1409673" cy="1409673"/>
          </a:xfrm>
          <a:prstGeom prst="rect">
            <a:avLst/>
          </a:prstGeom>
        </p:spPr>
      </p:pic>
      <p:sp>
        <p:nvSpPr>
          <p:cNvPr id="6" name="Text 3"/>
          <p:cNvSpPr/>
          <p:nvPr/>
        </p:nvSpPr>
        <p:spPr>
          <a:xfrm>
            <a:off x="7529471" y="6093744"/>
            <a:ext cx="5542420" cy="266517"/>
          </a:xfrm>
          <a:prstGeom prst="rect">
            <a:avLst/>
          </a:prstGeom>
          <a:noFill/>
          <a:ln/>
        </p:spPr>
        <p:txBody>
          <a:bodyPr wrap="square" lIns="25400" tIns="25400" rIns="25400" bIns="25400" rtlCol="0" anchor="t">
            <a:normAutofit/>
          </a:bodyPr>
          <a:lstStyle/>
          <a:p>
            <a:pPr algn="l" indent="0" marL="0">
              <a:buNone/>
            </a:pPr>
            <a:r>
              <a:rPr lang="en-US" sz="1200" spc="240" kern="0" dirty="0">
                <a:solidFill>
                  <a:srgbClr val="EFE9DC">
                    <a:alpha val="50000"/>
                  </a:srgbClr>
                </a:solidFill>
                <a:latin typeface="Courier New" pitchFamily="34" charset="0"/>
                <a:ea typeface="Courier New" pitchFamily="34" charset="-122"/>
                <a:cs typeface="Courier New" pitchFamily="34" charset="-120"/>
              </a:rPr>
              <a:t>CONTINUE THE JOURNEY</a:t>
            </a:r>
            <a:endParaRPr lang="en-US" sz="1200" dirty="0"/>
          </a:p>
        </p:txBody>
      </p:sp>
      <p:sp>
        <p:nvSpPr>
          <p:cNvPr id="7" name="Text 4"/>
          <p:cNvSpPr/>
          <p:nvPr/>
        </p:nvSpPr>
        <p:spPr>
          <a:xfrm>
            <a:off x="7529471" y="6455464"/>
            <a:ext cx="5542420" cy="498147"/>
          </a:xfrm>
          <a:prstGeom prst="rect">
            <a:avLst/>
          </a:prstGeom>
          <a:noFill/>
          <a:ln/>
        </p:spPr>
        <p:txBody>
          <a:bodyPr wrap="square" lIns="25400" tIns="25400" rIns="25400" bIns="25400" rtlCol="0" anchor="t">
            <a:normAutofit/>
          </a:bodyPr>
          <a:lstStyle/>
          <a:p>
            <a:pPr algn="l" indent="0" marL="0">
              <a:lnSpc>
                <a:spcPct val="105000"/>
              </a:lnSpc>
              <a:buNone/>
            </a:pPr>
            <a:r>
              <a:rPr lang="en-US" sz="3450" dirty="0">
                <a:solidFill>
                  <a:srgbClr val="EFE9DC"/>
                </a:solidFill>
                <a:latin typeface="Georgia" pitchFamily="34" charset="0"/>
                <a:ea typeface="Georgia" pitchFamily="34" charset="-122"/>
                <a:cs typeface="Georgia" pitchFamily="34" charset="-120"/>
              </a:rPr>
              <a:t>www.PHIERS.org</a:t>
            </a:r>
            <a:pPr algn="l" indent="0" marL="0">
              <a:lnSpc>
                <a:spcPct val="105000"/>
              </a:lnSpc>
              <a:buNone/>
            </a:pPr>
            <a:r>
              <a:rPr lang="en-US" sz="3450" dirty="0">
                <a:solidFill>
                  <a:srgbClr val="B89160"/>
                </a:solidFill>
                <a:latin typeface="Georgia" pitchFamily="34" charset="0"/>
                <a:ea typeface="Georgia" pitchFamily="34" charset="-122"/>
                <a:cs typeface="Georgia" pitchFamily="34" charset="-120"/>
              </a:rPr>
              <a:t>/ Prophecy</a:t>
            </a:r>
            <a:endParaRPr lang="en-US" sz="3450" dirty="0"/>
          </a:p>
        </p:txBody>
      </p:sp>
      <p:sp>
        <p:nvSpPr>
          <p:cNvPr id="8" name="Text 5"/>
          <p:cNvSpPr/>
          <p:nvPr/>
        </p:nvSpPr>
        <p:spPr>
          <a:xfrm>
            <a:off x="4652855" y="7723804"/>
            <a:ext cx="8982214" cy="249386"/>
          </a:xfrm>
          <a:prstGeom prst="rect">
            <a:avLst/>
          </a:prstGeom>
          <a:noFill/>
          <a:ln/>
        </p:spPr>
        <p:txBody>
          <a:bodyPr wrap="square" lIns="25400" tIns="25400" rIns="25400" bIns="25400" rtlCol="0" anchor="t">
            <a:normAutofit/>
          </a:bodyPr>
          <a:lstStyle/>
          <a:p>
            <a:pPr algn="ctr" indent="0" marL="0">
              <a:buNone/>
            </a:pPr>
            <a:r>
              <a:rPr lang="en-US" sz="1125" spc="158" kern="0" dirty="0">
                <a:solidFill>
                  <a:srgbClr val="EFE9DC">
                    <a:alpha val="40000"/>
                  </a:srgbClr>
                </a:solidFill>
                <a:latin typeface="Courier New" pitchFamily="34" charset="0"/>
                <a:ea typeface="Courier New" pitchFamily="34" charset="-122"/>
                <a:cs typeface="Courier New" pitchFamily="34" charset="-120"/>
              </a:rPr>
              <a:t>A GIFT FROM FOUNDATIONAL BLACK AMERICAN MEN TO HUMANITY. BUILT BY BLACK MEN.</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2026-06-28T20:34:31Z</dcterms:created>
  <dcterms:modified xsi:type="dcterms:W3CDTF">2026-06-28T20:34:31Z</dcterms:modified>
</cp:coreProperties>
</file>