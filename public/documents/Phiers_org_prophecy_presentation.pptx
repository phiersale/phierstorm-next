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entry screen. You are not powerless. PHIERS.org — the leverage Congress can't ignore.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Pause. Things are changing fast. Before reacting, choose a response that actually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Congress works for you. They just forgot.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Ignoring voters became politically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PHIERS changes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minutes. Enough to make Congress listen.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Outrage doesn't move Congress. Organized people do — especially in their own district.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Frederick Douglass: Power concedes nothing without a demand. It never did and it never will.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demand that has teeth. Organized, the school of fish becomes the predator.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concedes nothing without a demand that has teeth. We are the teeth.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make Congress listen. 500 — your Rep shows up. 1,000 — your Senator shows up. 1,500 — the district is organized. A public town hall is demanded.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1,500 people organize, the district listens.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proven strategy. 1,500 organized voters and Congress remembers who it works for. Drawn from veteran civic organizer Ralph Nader.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refuse the meeting, they lose the seat. Legally. Before the next election. No heat, no threats — just accountability.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 of accountability: Recall. Primary. Investigate. Expose. If they refuse accountability, the public gets the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PHIERS — Power Held In Every Representative's Seat. Pronounced FIRES.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petition. Your district. On the record. That's how pressure starts. Name, email, zip code — make them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makes us credible: three independent validators, one public record, zero hype.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validation. Pathos Communications, a London Stock Exchange listed PR firm. Voices of accountability in national media. DotCom Magazine's entrepreneur spotlight.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record: 22 years of documented public work — from the earliest PHIERS record in 2004 to the active district organizing model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500 works. 500 creates leverage over your representative; 1,500 creates the power to replace them. They go hand in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Alone, you're easy to ignore. Organized districts are not. The problem isn't awareness — it's leverage.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Medicaid commits roughly $12,000 per beneficiary across 77 million people. Telehealth can deliver most routine care for a fraction — redirecting 1.1 to 1.4 trillion dollars a year. The challenge isn't whether solutions exist; it's creating enough leverage to make Congress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petition tells us who's willing to stand up. The survey tells us what your district actually wants. Together they create a measurable constituency. Not a petition — a constituency.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organized districts can build: healthcare, veterans, housing, education, public safety, jobs, lower costs, government accountability. Different priorities, one accountability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cause, our leverage. Healthcare, veterans, working families, food security, transportation, housing, mental health, education, public safety — district organization leads to public accountability leads to Congress responding. PHIERS doesn't decide America's priorities. Americans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Whatever brings you here — healthcare, veterans, housing, corruption, opportunity, justice, education. You don't have to agree on everything. You only have to agree that Congress should answer to the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future is built district by district. Different communities. Same leverage.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America already has the solutions. What we've been missing is the leverage to make them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name and be counted in your district. Complete the district survey. PHIERS.org — the leverage Congress can't ignore.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image" Target="../media/image-25-9.png"/><Relationship Id="rId10" Type="http://schemas.openxmlformats.org/officeDocument/2006/relationships/image" Target="../media/image-25-10.sv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sv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sv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453" b="453"/>
          <a:stretch/>
        </p:blipFill>
        <p:spPr>
          <a:xfrm>
            <a:off x="0" y="0"/>
            <a:ext cx="18287943" cy="102869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7943" cy="10286962"/>
          </a:xfrm>
          <a:prstGeom prst="rect">
            <a:avLst/>
          </a:prstGeom>
          <a:gradFill rotWithShape="1">
            <a:gsLst>
              <a:gs pos="0">
                <a:srgbClr val="050B19">
                  <a:alpha val="35000"/>
                </a:srgbClr>
              </a:gs>
              <a:gs pos="30000">
                <a:srgbClr val="050B19">
                  <a:alpha val="0"/>
                </a:srgbClr>
              </a:gs>
              <a:gs pos="78000">
                <a:srgbClr val="050B19">
                  <a:alpha val="70000"/>
                </a:srgbClr>
              </a:gs>
              <a:gs pos="100000">
                <a:srgbClr val="050B19">
                  <a:alpha val="97000"/>
                </a:srgbClr>
              </a:gs>
            </a:gsLst>
            <a:lin ang="5400000" scaled="0"/>
          </a:gra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74" y="6459925"/>
            <a:ext cx="939652" cy="70476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196803" y="6536065"/>
            <a:ext cx="9525" cy="552389"/>
          </a:xfrm>
          <a:prstGeom prst="rect">
            <a:avLst/>
          </a:prstGeom>
          <a:solidFill>
            <a:srgbClr val="3DDC84">
              <a:alpha val="4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2415798" y="6512176"/>
            <a:ext cx="4522670" cy="638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spc="252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PHIERS.ORG </a:t>
            </a:r>
            <a:pPr algn="l" indent="0" marL="0">
              <a:lnSpc>
                <a:spcPct val="150000"/>
              </a:lnSpc>
              <a:buNone/>
            </a:pPr>
            <a:r>
              <a:rPr lang="en-US" sz="1275" spc="252" kern="0" dirty="0">
                <a:solidFill>
                  <a:srgbClr val="B8C8E8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LEVERAGE CONGRESS CAN’T IGNORE</a:t>
            </a:r>
            <a:endParaRPr lang="en-US" sz="1575" dirty="0"/>
          </a:p>
        </p:txBody>
      </p:sp>
      <p:sp>
        <p:nvSpPr>
          <p:cNvPr id="7" name="Text 3"/>
          <p:cNvSpPr/>
          <p:nvPr/>
        </p:nvSpPr>
        <p:spPr>
          <a:xfrm>
            <a:off x="1047674" y="7450400"/>
            <a:ext cx="11772900" cy="1447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Organized people, by district, </a:t>
            </a:r>
            <a:pPr algn="l" indent="0" marL="0">
              <a:lnSpc>
                <a:spcPct val="100000"/>
              </a:lnSpc>
              <a:buNone/>
            </a:pPr>
            <a:r>
              <a:rPr lang="en-US" sz="555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real consequences.</a:t>
            </a:r>
            <a:endParaRPr lang="en-US" sz="5550" dirty="0"/>
          </a:p>
        </p:txBody>
      </p:sp>
      <p:sp>
        <p:nvSpPr>
          <p:cNvPr id="8" name="Text 4"/>
          <p:cNvSpPr/>
          <p:nvPr/>
        </p:nvSpPr>
        <p:spPr>
          <a:xfrm>
            <a:off x="1047674" y="9069593"/>
            <a:ext cx="17811855" cy="379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8C8E8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how change actually happens.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43" cy="10286962"/>
          </a:xfrm>
          <a:prstGeom prst="rect">
            <a:avLst/>
          </a:prstGeom>
          <a:gradFill rotWithShape="1">
            <a:gsLst>
              <a:gs pos="0">
                <a:srgbClr val="0A1322">
                  <a:alpha val="100000"/>
                </a:srgbClr>
              </a:gs>
              <a:gs pos="62000">
                <a:srgbClr val="050B19">
                  <a:alpha val="100000"/>
                </a:srgbClr>
              </a:gs>
            </a:gsLst>
            <a:path path="circle">
              <a:fillToRect l="50000" t="46000" r="50000" b="54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708988" y="2906943"/>
            <a:ext cx="2869873" cy="323848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839082" y="3338794"/>
            <a:ext cx="609589" cy="19035"/>
          </a:xfrm>
          <a:prstGeom prst="rect">
            <a:avLst/>
          </a:prstGeom>
          <a:solidFill>
            <a:srgbClr val="3DDC84">
              <a:alpha val="7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28337" y="3776879"/>
            <a:ext cx="5431172" cy="1323899"/>
          </a:xfrm>
          <a:prstGeom prst="rect">
            <a:avLst/>
          </a:prstGeom>
          <a:noFill/>
          <a:ln/>
          <a:effectLst>
            <a:outerShdw sx="100000" sy="100000" kx="0" ky="0" algn="bl" rotWithShape="0" blurRad="419100" dist="50800" dir="16200000">
              <a:srgbClr val="3DDC84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250" spc="675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PAUSE.</a:t>
            </a:r>
            <a:endParaRPr lang="en-US" sz="11250" dirty="0"/>
          </a:p>
        </p:txBody>
      </p:sp>
      <p:sp>
        <p:nvSpPr>
          <p:cNvPr id="6" name="Text 3"/>
          <p:cNvSpPr/>
          <p:nvPr/>
        </p:nvSpPr>
        <p:spPr>
          <a:xfrm>
            <a:off x="6428337" y="5348390"/>
            <a:ext cx="5431172" cy="494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are changing fast.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6601147" y="5976633"/>
            <a:ext cx="5085552" cy="10096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B8C8E8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reacting, choose a response that actually works.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3742331"/>
            <a:ext cx="16973487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428750" y="4416448"/>
            <a:ext cx="16973487" cy="123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600" b="1" spc="-9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Congress works for you.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428750" y="5782573"/>
            <a:ext cx="16973487" cy="800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B8C8E8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just forgot.</a:t>
            </a:r>
            <a:endParaRPr lang="en-US" sz="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3777641"/>
            <a:ext cx="16973487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428750" y="4451757"/>
            <a:ext cx="14716125" cy="2095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0" b="1" spc="-8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Ignoring voters became </a:t>
            </a:r>
            <a:pPr algn="l" indent="0" marL="0">
              <a:lnSpc>
                <a:spcPct val="100000"/>
              </a:lnSpc>
              <a:buNone/>
            </a:pPr>
            <a:r>
              <a:rPr lang="en-US" sz="8100" b="1" spc="-81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politically safe.</a:t>
            </a:r>
            <a:endParaRPr lang="en-US" sz="8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43" cy="10286962"/>
          </a:xfrm>
          <a:prstGeom prst="rect">
            <a:avLst/>
          </a:prstGeom>
          <a:gradFill rotWithShape="1">
            <a:gsLst>
              <a:gs pos="0">
                <a:srgbClr val="0A1322">
                  <a:alpha val="100000"/>
                </a:srgbClr>
              </a:gs>
              <a:gs pos="64000">
                <a:srgbClr val="050B19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7286939" y="3047990"/>
            <a:ext cx="3713970" cy="41909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5384" y="4499439"/>
            <a:ext cx="14177079" cy="1326183"/>
          </a:xfrm>
          <a:prstGeom prst="rect">
            <a:avLst/>
          </a:prstGeom>
          <a:noFill/>
          <a:ln/>
          <a:effectLst>
            <a:outerShdw sx="100000" sy="100000" kx="0" ky="0" algn="bl" rotWithShape="0" blurRad="476250" dist="50800" dir="16200000">
              <a:srgbClr val="3DDC84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350" b="1" spc="-103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PHIERS changes that.</a:t>
            </a:r>
            <a:endParaRPr lang="en-US" sz="10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385" y="4116174"/>
            <a:ext cx="6857172" cy="1159724"/>
          </a:xfrm>
          <a:prstGeom prst="rect">
            <a:avLst/>
          </a:prstGeom>
          <a:noFill/>
          <a:ln/>
          <a:effectLst>
            <a:outerShdw sx="100000" sy="100000" kx="0" ky="0" algn="bl" rotWithShape="0" blurRad="381000" dist="50800" dir="16200000">
              <a:srgbClr val="3DDC84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600" spc="192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Minutes.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845835" y="5580615"/>
            <a:ext cx="6596177" cy="628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to make 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Congress listen.</a:t>
            </a:r>
            <a:endParaRPr lang="en-US" sz="3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3750136"/>
            <a:ext cx="16973487" cy="83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150" b="1" dirty="0">
                <a:solidFill>
                  <a:srgbClr val="B8C8E8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Outrage doesn’t move Congress.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1428750" y="4680175"/>
            <a:ext cx="16973487" cy="1181138"/>
          </a:xfrm>
          <a:prstGeom prst="rect">
            <a:avLst/>
          </a:prstGeom>
          <a:noFill/>
          <a:ln/>
          <a:effectLst>
            <a:outerShdw sx="100000" sy="100000" kx="0" ky="0" algn="bl" rotWithShape="0" blurRad="419100" dist="50800" dir="16200000">
              <a:srgbClr val="3DDC84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spc="-9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Organized people do.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428750" y="6146994"/>
            <a:ext cx="16973487" cy="427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B8C8E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Especially in their own district.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4193" y="2431216"/>
            <a:ext cx="11239462" cy="5424434"/>
          </a:xfrm>
          <a:prstGeom prst="roundRect">
            <a:avLst>
              <a:gd name="adj" fmla="val 1756"/>
            </a:avLst>
          </a:prstGeom>
          <a:ln w="6091">
            <a:solidFill>
              <a:srgbClr val="3DDC84">
                <a:alpha val="2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4193" y="2431216"/>
            <a:ext cx="11239462" cy="54244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4462" y="2704175"/>
            <a:ext cx="7238924" cy="3716444"/>
          </a:xfrm>
          <a:prstGeom prst="roundRect">
            <a:avLst>
              <a:gd name="adj" fmla="val 3076"/>
            </a:avLst>
          </a:prstGeom>
          <a:ln/>
          <a:effectLst>
            <a:outerShdw sx="100000" sy="100000" kx="0" ky="0" algn="bl" rotWithShape="0" blurRad="476250" dist="190500" dir="5400000">
              <a:srgbClr val="000000">
                <a:alpha val="5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462" y="2704175"/>
            <a:ext cx="7238924" cy="37164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81586" y="6782565"/>
            <a:ext cx="10697142" cy="838227"/>
          </a:xfrm>
          <a:prstGeom prst="rect">
            <a:avLst/>
          </a:prstGeom>
          <a:noFill/>
          <a:ln/>
          <a:effectLst>
            <a:outerShdw sx="100000" sy="100000" kx="0" ky="0" algn="bl" rotWithShape="0" blurRad="381000" dist="50800" dir="16200000">
              <a:srgbClr val="3DDC84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demand that has TEETH.</a:t>
            </a:r>
            <a:endParaRPr lang="en-US" sz="6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43" cy="10286962"/>
          </a:xfrm>
          <a:prstGeom prst="rect">
            <a:avLst/>
          </a:prstGeom>
          <a:gradFill rotWithShape="1">
            <a:gsLst>
              <a:gs pos="0">
                <a:srgbClr val="0A1322">
                  <a:alpha val="100000"/>
                </a:srgbClr>
              </a:gs>
              <a:gs pos="66000">
                <a:srgbClr val="050B19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3000"/>
          </a:blip>
          <a:stretch>
            <a:fillRect/>
          </a:stretch>
        </p:blipFill>
        <p:spPr>
          <a:xfrm>
            <a:off x="7371358" y="3143260"/>
            <a:ext cx="3545131" cy="40004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82294" y="3560549"/>
            <a:ext cx="8323355" cy="1211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200" b="1" spc="84" kern="0" dirty="0">
                <a:solidFill>
                  <a:srgbClr val="F0F4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concedes nothing without a demand that has teeth.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8715356" y="5171938"/>
            <a:ext cx="857231" cy="19035"/>
          </a:xfrm>
          <a:prstGeom prst="rect">
            <a:avLst/>
          </a:prstGeom>
          <a:solidFill>
            <a:srgbClr val="3DDC84">
              <a:alpha val="6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699461" y="5629058"/>
            <a:ext cx="8889020" cy="1135359"/>
          </a:xfrm>
          <a:prstGeom prst="rect">
            <a:avLst/>
          </a:prstGeom>
          <a:noFill/>
          <a:ln/>
          <a:effectLst>
            <a:outerShdw sx="100000" sy="100000" kx="0" ky="0" algn="bl" rotWithShape="0" blurRad="457200" dist="50800" dir="16200000">
              <a:srgbClr val="3DDC84">
                <a:alpha val="4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600" spc="384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The Teeth.</a:t>
            </a:r>
            <a:endParaRPr lang="en-US" sz="9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12" y="2013974"/>
            <a:ext cx="17392670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MECHANISM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212" y="2459483"/>
            <a:ext cx="17392670" cy="72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make Congress listen.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238212" y="3640591"/>
            <a:ext cx="15811519" cy="9525"/>
          </a:xfrm>
          <a:prstGeom prst="rect">
            <a:avLst/>
          </a:prstGeom>
          <a:solidFill>
            <a:srgbClr val="3DDC84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238212" y="3894324"/>
            <a:ext cx="2304987" cy="758185"/>
          </a:xfrm>
          <a:prstGeom prst="rect">
            <a:avLst/>
          </a:prstGeom>
          <a:noFill/>
          <a:ln/>
          <a:effectLst>
            <a:outerShdw sx="100000" sy="100000" kx="0" ky="0" algn="bl" rotWithShape="0" blurRad="285750" dist="50800" dir="16200000">
              <a:srgbClr val="3DDC84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30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3714636" y="4089240"/>
            <a:ext cx="8331644" cy="531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signatures — your </a:t>
            </a:r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</a:t>
            </a:r>
            <a:pPr algn="l" indent="0" marL="0">
              <a:buNone/>
            </a:pPr>
            <a:r>
              <a:rPr lang="en-US" sz="3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up.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238212" y="4862052"/>
            <a:ext cx="15811519" cy="9525"/>
          </a:xfrm>
          <a:prstGeom prst="rect">
            <a:avLst/>
          </a:prstGeom>
          <a:solidFill>
            <a:srgbClr val="3DDC84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238212" y="5115785"/>
            <a:ext cx="2304987" cy="758185"/>
          </a:xfrm>
          <a:prstGeom prst="rect">
            <a:avLst/>
          </a:prstGeom>
          <a:noFill/>
          <a:ln/>
          <a:effectLst>
            <a:outerShdw sx="100000" sy="100000" kx="0" ky="0" algn="bl" rotWithShape="0" blurRad="285750" dist="50800" dir="16200000">
              <a:srgbClr val="3DDC84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30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3714636" y="5310701"/>
            <a:ext cx="6913287" cy="531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signatures — your </a:t>
            </a:r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Senator </a:t>
            </a:r>
            <a:pPr algn="l" indent="0" marL="0">
              <a:buNone/>
            </a:pPr>
            <a:r>
              <a:rPr lang="en-US" sz="3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up.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1238212" y="7304974"/>
            <a:ext cx="15811519" cy="9525"/>
          </a:xfrm>
          <a:prstGeom prst="rect">
            <a:avLst/>
          </a:prstGeom>
          <a:solidFill>
            <a:srgbClr val="3DDC84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38212" y="6083513"/>
            <a:ext cx="15811519" cy="9525"/>
          </a:xfrm>
          <a:prstGeom prst="rect">
            <a:avLst/>
          </a:prstGeom>
          <a:solidFill>
            <a:srgbClr val="3DDC84">
              <a:alpha val="2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38212" y="6337246"/>
            <a:ext cx="2304987" cy="758185"/>
          </a:xfrm>
          <a:prstGeom prst="rect">
            <a:avLst/>
          </a:prstGeom>
          <a:noFill/>
          <a:ln/>
          <a:effectLst>
            <a:outerShdw sx="100000" sy="100000" kx="0" ky="0" algn="bl" rotWithShape="0" blurRad="285750" dist="50800" dir="16200000">
              <a:srgbClr val="3DDC84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30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</a:t>
            </a:r>
            <a:endParaRPr lang="en-US" sz="6300" dirty="0"/>
          </a:p>
        </p:txBody>
      </p:sp>
      <p:sp>
        <p:nvSpPr>
          <p:cNvPr id="13" name="Text 11"/>
          <p:cNvSpPr/>
          <p:nvPr/>
        </p:nvSpPr>
        <p:spPr>
          <a:xfrm>
            <a:off x="3714636" y="6532163"/>
            <a:ext cx="4994610" cy="531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</a:t>
            </a:r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is organized.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238212" y="7749151"/>
            <a:ext cx="17392670" cy="5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Public town hall demanded.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241" b="241"/>
          <a:stretch/>
        </p:blipFill>
        <p:spPr>
          <a:xfrm>
            <a:off x="0" y="0"/>
            <a:ext cx="18287978" cy="1028691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7978" cy="10286914"/>
          </a:xfrm>
          <a:prstGeom prst="rect">
            <a:avLst/>
          </a:prstGeom>
          <a:gradFill rotWithShape="1">
            <a:gsLst>
              <a:gs pos="0">
                <a:srgbClr val="050B19">
                  <a:alpha val="20000"/>
                </a:srgbClr>
              </a:gs>
              <a:gs pos="40000">
                <a:srgbClr val="050B19">
                  <a:alpha val="0"/>
                </a:srgbClr>
              </a:gs>
              <a:gs pos="100000">
                <a:srgbClr val="050B19">
                  <a:alpha val="92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1238164" y="7696234"/>
            <a:ext cx="12753974" cy="1714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1,500 people organize, </a:t>
            </a:r>
            <a:pPr algn="l"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district listens.</a:t>
            </a:r>
            <a:endParaRPr lang="en-US" sz="6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rcRect l="0" r="0" t="0" b="0"/>
          <a:stretch/>
        </p:blipFill>
        <p:spPr>
          <a:xfrm>
            <a:off x="0" y="0"/>
            <a:ext cx="18287871" cy="1028691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7871" cy="10286914"/>
          </a:xfrm>
          <a:prstGeom prst="rect">
            <a:avLst/>
          </a:prstGeom>
          <a:gradFill rotWithShape="1">
            <a:gsLst>
              <a:gs pos="30000">
                <a:srgbClr val="050B19">
                  <a:alpha val="92000"/>
                </a:srgbClr>
              </a:gs>
              <a:gs pos="100000">
                <a:srgbClr val="050B19">
                  <a:alpha val="4000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1238164" y="3171003"/>
            <a:ext cx="9639394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PROVEN STRATEGY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238164" y="3730768"/>
            <a:ext cx="9025978" cy="248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“1,500 organized voters. Congress remembers </a:t>
            </a:r>
            <a:pPr algn="l" indent="0" marL="0">
              <a:lnSpc>
                <a:spcPct val="102000"/>
              </a:lnSpc>
              <a:buNone/>
            </a:pPr>
            <a:r>
              <a:rPr lang="en-US" sz="63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works for.</a:t>
            </a:r>
            <a:pPr algn="l" indent="0" marL="0">
              <a:lnSpc>
                <a:spcPct val="102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6300" dirty="0"/>
          </a:p>
        </p:txBody>
      </p:sp>
      <p:sp>
        <p:nvSpPr>
          <p:cNvPr id="6" name="Text 3"/>
          <p:cNvSpPr/>
          <p:nvPr/>
        </p:nvSpPr>
        <p:spPr>
          <a:xfrm>
            <a:off x="1238164" y="6540300"/>
            <a:ext cx="9025978" cy="613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8E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 on Ralph Nader, </a:t>
            </a:r>
            <a:pPr algn="l" indent="0" marL="0">
              <a:buNone/>
            </a:pPr>
            <a:r>
              <a:rPr lang="en-US" sz="1800" i="1" dirty="0">
                <a:solidFill>
                  <a:srgbClr val="B8C8E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“Breaking Through Power: It’s Easier Than We Think.” </a:t>
            </a:r>
            <a:pPr algn="l" indent="0" marL="0">
              <a:buNone/>
            </a:pPr>
            <a:r>
              <a:rPr lang="en-US" sz="1800" dirty="0">
                <a:solidFill>
                  <a:srgbClr val="B8C8E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nader.org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3673806"/>
            <a:ext cx="14519821" cy="201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refuse the meeting, </a:t>
            </a:r>
            <a:pPr algn="l" indent="0" marL="0">
              <a:lnSpc>
                <a:spcPct val="100000"/>
              </a:lnSpc>
              <a:buNone/>
            </a:pPr>
            <a:r>
              <a:rPr lang="en-US" sz="78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lose the seat.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1428750" y="6188252"/>
            <a:ext cx="1314870" cy="462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0F4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Legally.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3233532" y="6188252"/>
            <a:ext cx="4293937" cy="462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next election.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746557" y="6188252"/>
            <a:ext cx="3452534" cy="462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0F4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heat. No threats.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494670" y="6188252"/>
            <a:ext cx="3401183" cy="462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0F4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accountability.</a:t>
            </a:r>
            <a:endParaRPr lang="en-US" sz="2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3550675"/>
            <a:ext cx="16973408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OF ACCOUNTABILITY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1428750" y="4281967"/>
            <a:ext cx="3671879" cy="1534107"/>
          </a:xfrm>
          <a:prstGeom prst="roundRect">
            <a:avLst>
              <a:gd name="adj" fmla="val 8692"/>
            </a:avLst>
          </a:prstGeom>
          <a:solidFill>
            <a:srgbClr val="0A1628"/>
          </a:solidFill>
          <a:ln w="13705">
            <a:solidFill>
              <a:srgbClr val="3DDC84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95427" y="4733805"/>
            <a:ext cx="3338525" cy="668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35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Recall.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5348176" y="4281967"/>
            <a:ext cx="3671879" cy="1534107"/>
          </a:xfrm>
          <a:prstGeom prst="roundRect">
            <a:avLst>
              <a:gd name="adj" fmla="val 8692"/>
            </a:avLst>
          </a:prstGeom>
          <a:solidFill>
            <a:srgbClr val="0A1628"/>
          </a:solidFill>
          <a:ln w="13705">
            <a:solidFill>
              <a:srgbClr val="3DDC84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14852" y="4733805"/>
            <a:ext cx="3338525" cy="668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35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Primary.</a:t>
            </a:r>
            <a:endParaRPr lang="en-US" sz="4350" dirty="0"/>
          </a:p>
        </p:txBody>
      </p:sp>
      <p:sp>
        <p:nvSpPr>
          <p:cNvPr id="7" name="Shape 5"/>
          <p:cNvSpPr/>
          <p:nvPr/>
        </p:nvSpPr>
        <p:spPr>
          <a:xfrm>
            <a:off x="9267602" y="4281967"/>
            <a:ext cx="3671879" cy="1534107"/>
          </a:xfrm>
          <a:prstGeom prst="roundRect">
            <a:avLst>
              <a:gd name="adj" fmla="val 8692"/>
            </a:avLst>
          </a:prstGeom>
          <a:solidFill>
            <a:srgbClr val="0A1628"/>
          </a:solidFill>
          <a:ln w="13705">
            <a:solidFill>
              <a:srgbClr val="3DDC84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34279" y="4733805"/>
            <a:ext cx="3338525" cy="668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35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Investigate.</a:t>
            </a:r>
            <a:endParaRPr lang="en-US" sz="4350" dirty="0"/>
          </a:p>
        </p:txBody>
      </p:sp>
      <p:sp>
        <p:nvSpPr>
          <p:cNvPr id="9" name="Shape 7"/>
          <p:cNvSpPr/>
          <p:nvPr/>
        </p:nvSpPr>
        <p:spPr>
          <a:xfrm>
            <a:off x="13187028" y="4281967"/>
            <a:ext cx="3672093" cy="1534107"/>
          </a:xfrm>
          <a:prstGeom prst="roundRect">
            <a:avLst>
              <a:gd name="adj" fmla="val 8692"/>
            </a:avLst>
          </a:prstGeom>
          <a:solidFill>
            <a:srgbClr val="0A1628"/>
          </a:solidFill>
          <a:ln w="13705">
            <a:solidFill>
              <a:srgbClr val="3DDC84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53694" y="4733805"/>
            <a:ext cx="3338761" cy="668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35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428750" y="6311169"/>
            <a:ext cx="16973408" cy="462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B8C8E8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refuse accountability,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gets the truth.</a:t>
            </a:r>
            <a:endParaRPr lang="en-US" sz="2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871" cy="10286914"/>
          </a:xfrm>
          <a:prstGeom prst="rect">
            <a:avLst/>
          </a:prstGeom>
          <a:gradFill rotWithShape="1">
            <a:gsLst>
              <a:gs pos="0">
                <a:srgbClr val="0A1322">
                  <a:alpha val="100000"/>
                </a:srgbClr>
              </a:gs>
              <a:gs pos="64000">
                <a:srgbClr val="050B19">
                  <a:alpha val="100000"/>
                </a:srgbClr>
              </a:gs>
            </a:gsLst>
            <a:path path="circle">
              <a:fillToRect l="50000" t="42000" r="50000" b="58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914" y="3200554"/>
            <a:ext cx="1523829" cy="11428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4608" y="4857578"/>
            <a:ext cx="480713" cy="928713"/>
          </a:xfrm>
          <a:prstGeom prst="rect">
            <a:avLst/>
          </a:prstGeom>
          <a:noFill/>
          <a:ln/>
          <a:effectLst>
            <a:outerShdw sx="100000" sy="100000" kx="0" ky="0" algn="bl" rotWithShape="0" blurRad="285750" dist="50800" dir="16200000">
              <a:srgbClr val="3DDC84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25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8250" dirty="0"/>
          </a:p>
        </p:txBody>
      </p:sp>
      <p:sp>
        <p:nvSpPr>
          <p:cNvPr id="5" name="Text 2"/>
          <p:cNvSpPr/>
          <p:nvPr/>
        </p:nvSpPr>
        <p:spPr>
          <a:xfrm>
            <a:off x="5798354" y="5881388"/>
            <a:ext cx="1313221" cy="367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80" kern="0" dirty="0">
                <a:solidFill>
                  <a:srgbClr val="F0F4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7506308" y="4857578"/>
            <a:ext cx="516260" cy="928713"/>
          </a:xfrm>
          <a:prstGeom prst="rect">
            <a:avLst/>
          </a:prstGeom>
          <a:noFill/>
          <a:ln/>
          <a:effectLst>
            <a:outerShdw sx="100000" sy="100000" kx="0" ky="0" algn="bl" rotWithShape="0" blurRad="285750" dist="50800" dir="16200000">
              <a:srgbClr val="3DDC84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25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8250" dirty="0"/>
          </a:p>
        </p:txBody>
      </p:sp>
      <p:sp>
        <p:nvSpPr>
          <p:cNvPr id="7" name="Text 4"/>
          <p:cNvSpPr/>
          <p:nvPr/>
        </p:nvSpPr>
        <p:spPr>
          <a:xfrm>
            <a:off x="7299447" y="5881388"/>
            <a:ext cx="929981" cy="367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80" kern="0" dirty="0">
                <a:solidFill>
                  <a:srgbClr val="F0F4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8503991" y="4857578"/>
            <a:ext cx="277493" cy="928713"/>
          </a:xfrm>
          <a:prstGeom prst="rect">
            <a:avLst/>
          </a:prstGeom>
          <a:noFill/>
          <a:ln/>
          <a:effectLst>
            <a:outerShdw sx="100000" sy="100000" kx="0" ky="0" algn="bl" rotWithShape="0" blurRad="285750" dist="50800" dir="16200000">
              <a:srgbClr val="3DDC84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25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250" dirty="0"/>
          </a:p>
        </p:txBody>
      </p:sp>
      <p:sp>
        <p:nvSpPr>
          <p:cNvPr id="9" name="Text 6"/>
          <p:cNvSpPr/>
          <p:nvPr/>
        </p:nvSpPr>
        <p:spPr>
          <a:xfrm>
            <a:off x="8438892" y="5881388"/>
            <a:ext cx="407691" cy="367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80" kern="0" dirty="0">
                <a:solidFill>
                  <a:srgbClr val="F0F4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9404670" y="4857578"/>
            <a:ext cx="456729" cy="928713"/>
          </a:xfrm>
          <a:prstGeom prst="rect">
            <a:avLst/>
          </a:prstGeom>
          <a:noFill/>
          <a:ln/>
          <a:effectLst>
            <a:outerShdw sx="100000" sy="100000" kx="0" ky="0" algn="bl" rotWithShape="0" blurRad="285750" dist="50800" dir="16200000">
              <a:srgbClr val="3DDC84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25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8250" dirty="0"/>
          </a:p>
        </p:txBody>
      </p:sp>
      <p:sp>
        <p:nvSpPr>
          <p:cNvPr id="11" name="Text 8"/>
          <p:cNvSpPr/>
          <p:nvPr/>
        </p:nvSpPr>
        <p:spPr>
          <a:xfrm>
            <a:off x="9056047" y="5881388"/>
            <a:ext cx="1154187" cy="367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80" kern="0" dirty="0">
                <a:solidFill>
                  <a:srgbClr val="F0F4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0643262" y="4857578"/>
            <a:ext cx="498486" cy="928713"/>
          </a:xfrm>
          <a:prstGeom prst="rect">
            <a:avLst/>
          </a:prstGeom>
          <a:noFill/>
          <a:ln/>
          <a:effectLst>
            <a:outerShdw sx="100000" sy="100000" kx="0" ky="0" algn="bl" rotWithShape="0" blurRad="285750" dist="50800" dir="16200000">
              <a:srgbClr val="3DDC84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25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250" dirty="0"/>
          </a:p>
        </p:txBody>
      </p:sp>
      <p:sp>
        <p:nvSpPr>
          <p:cNvPr id="13" name="Text 10"/>
          <p:cNvSpPr/>
          <p:nvPr/>
        </p:nvSpPr>
        <p:spPr>
          <a:xfrm>
            <a:off x="10419699" y="5881388"/>
            <a:ext cx="945827" cy="367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80" kern="0" dirty="0">
                <a:solidFill>
                  <a:srgbClr val="F0F4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REPS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1788275" y="4857578"/>
            <a:ext cx="466151" cy="928713"/>
          </a:xfrm>
          <a:prstGeom prst="rect">
            <a:avLst/>
          </a:prstGeom>
          <a:noFill/>
          <a:ln/>
          <a:effectLst>
            <a:outerShdw sx="100000" sy="100000" kx="0" ky="0" algn="bl" rotWithShape="0" blurRad="285750" dist="50800" dir="16200000">
              <a:srgbClr val="3DDC84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25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8250" dirty="0"/>
          </a:p>
        </p:txBody>
      </p:sp>
      <p:sp>
        <p:nvSpPr>
          <p:cNvPr id="15" name="Text 12"/>
          <p:cNvSpPr/>
          <p:nvPr/>
        </p:nvSpPr>
        <p:spPr>
          <a:xfrm>
            <a:off x="11574990" y="5881388"/>
            <a:ext cx="892934" cy="367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80" kern="0" dirty="0">
                <a:solidFill>
                  <a:srgbClr val="F0F4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4899582" y="6743520"/>
            <a:ext cx="8488706" cy="380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B8C8E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Held In Every Representative’s Seat </a:t>
            </a:r>
            <a:pPr algn="ctr" indent="0" marL="0">
              <a:buNone/>
            </a:pPr>
            <a:r>
              <a:rPr lang="en-US" sz="225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(pronounced FIRES)</a:t>
            </a:r>
            <a:endParaRPr lang="en-US" sz="2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5766" y="3059649"/>
            <a:ext cx="14716124" cy="18668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petition. Your district. </a:t>
            </a:r>
            <a:pPr algn="ctr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record.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794525" y="5307489"/>
            <a:ext cx="8698822" cy="58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50" dirty="0">
                <a:solidFill>
                  <a:srgbClr val="B8C8E8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how pressure starts. Name. Email. Zip code.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506894" y="6345431"/>
            <a:ext cx="5273869" cy="881833"/>
          </a:xfrm>
          <a:prstGeom prst="roundRect">
            <a:avLst>
              <a:gd name="adj" fmla="val 10801"/>
            </a:avLst>
          </a:prstGeom>
          <a:solidFill>
            <a:srgbClr val="3DDC84"/>
          </a:solidFill>
          <a:ln/>
          <a:effectLst>
            <a:outerShdw sx="100000" sy="100000" kx="0" ky="0" algn="bl" rotWithShape="0" blurRad="342900" dist="50800" dir="16200000">
              <a:srgbClr val="3DDC8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23085" y="6574031"/>
            <a:ext cx="4441485" cy="462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spc="102" kern="0" dirty="0">
                <a:solidFill>
                  <a:srgbClr val="08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 MAKE THEM ANSWER</a:t>
            </a:r>
            <a:endParaRPr lang="en-US" sz="2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871" cy="10286914"/>
          </a:xfrm>
          <a:prstGeom prst="rect">
            <a:avLst/>
          </a:prstGeom>
          <a:gradFill rotWithShape="1">
            <a:gsLst>
              <a:gs pos="0">
                <a:srgbClr val="0A1322">
                  <a:alpha val="100000"/>
                </a:srgbClr>
              </a:gs>
              <a:gs pos="66000">
                <a:srgbClr val="050B19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8585134" y="3577442"/>
            <a:ext cx="1117389" cy="8381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43447" y="4872783"/>
            <a:ext cx="13400976" cy="1139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850" b="1" spc="-8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Us Credible</a:t>
            </a:r>
            <a:endParaRPr lang="en-US" sz="8850" dirty="0"/>
          </a:p>
        </p:txBody>
      </p:sp>
      <p:sp>
        <p:nvSpPr>
          <p:cNvPr id="5" name="Text 2"/>
          <p:cNvSpPr/>
          <p:nvPr/>
        </p:nvSpPr>
        <p:spPr>
          <a:xfrm>
            <a:off x="4297985" y="6298106"/>
            <a:ext cx="9691687" cy="449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independent validators. One public record. Zero hype.</a:t>
            </a:r>
            <a:endParaRPr lang="en-US" sz="2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579" y="3061790"/>
            <a:ext cx="17811985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INDEPENDENT VALIDATION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1047579" y="3774024"/>
            <a:ext cx="5181574" cy="3451099"/>
          </a:xfrm>
          <a:prstGeom prst="roundRect">
            <a:avLst>
              <a:gd name="adj" fmla="val 4416"/>
            </a:avLst>
          </a:prstGeom>
          <a:solidFill>
            <a:srgbClr val="0A1628"/>
          </a:solidFill>
          <a:ln w="13705">
            <a:solidFill>
              <a:srgbClr val="3DDC84">
                <a:alpha val="28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000000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442241" y="4225862"/>
            <a:ext cx="4831475" cy="43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Pathos Communications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442241" y="4720956"/>
            <a:ext cx="4524017" cy="558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B8C8E8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PR Firm · London Stock Exchange Listed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1442241" y="5508353"/>
            <a:ext cx="4524017" cy="85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75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you weren’t legit, we wouldn’t risk our name.”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1442241" y="6554005"/>
            <a:ext cx="4831475" cy="257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8C8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Pathos · Feb 2026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52934" y="3774024"/>
            <a:ext cx="5181788" cy="3451099"/>
          </a:xfrm>
          <a:prstGeom prst="roundRect">
            <a:avLst>
              <a:gd name="adj" fmla="val 4416"/>
            </a:avLst>
          </a:prstGeom>
          <a:solidFill>
            <a:srgbClr val="0A1628"/>
          </a:solidFill>
          <a:ln w="13705">
            <a:solidFill>
              <a:srgbClr val="3DDC84">
                <a:alpha val="28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7596" y="4225862"/>
            <a:ext cx="4831710" cy="43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Voices of Accountability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6947596" y="4720956"/>
            <a:ext cx="4831710" cy="298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B8C8E8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Media · Cultural Leadership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6947596" y="5247958"/>
            <a:ext cx="4524238" cy="1115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75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isn’t left or right. This is people trying to survive.”</a:t>
            </a:r>
            <a:endParaRPr lang="en-US" sz="2475" dirty="0"/>
          </a:p>
        </p:txBody>
      </p:sp>
      <p:sp>
        <p:nvSpPr>
          <p:cNvPr id="12" name="Text 10"/>
          <p:cNvSpPr/>
          <p:nvPr/>
        </p:nvSpPr>
        <p:spPr>
          <a:xfrm>
            <a:off x="6947596" y="6554005"/>
            <a:ext cx="4831710" cy="257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8C8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Curry, Nader, Noah, Hunter · May 2026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2058503" y="3774024"/>
            <a:ext cx="5181574" cy="3451099"/>
          </a:xfrm>
          <a:prstGeom prst="roundRect">
            <a:avLst>
              <a:gd name="adj" fmla="val 4416"/>
            </a:avLst>
          </a:prstGeom>
          <a:solidFill>
            <a:srgbClr val="0A1628"/>
          </a:solidFill>
          <a:ln w="13705">
            <a:solidFill>
              <a:srgbClr val="3DDC84">
                <a:alpha val="28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00000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453165" y="4225862"/>
            <a:ext cx="4831475" cy="43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DotCom Magazine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12453165" y="4720956"/>
            <a:ext cx="4831475" cy="298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B8C8E8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 Spotlight · National Media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2453165" y="5247958"/>
            <a:ext cx="4524017" cy="1115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75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serious, credible framework.”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12453165" y="6554005"/>
            <a:ext cx="4831475" cy="257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8C8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DotCom Magazine · July 2022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164" y="3422833"/>
            <a:ext cx="17392696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RECORD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164" y="3811071"/>
            <a:ext cx="17392696" cy="72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years of documented public record.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238164" y="5211126"/>
            <a:ext cx="15811542" cy="18844"/>
          </a:xfrm>
          <a:prstGeom prst="rect">
            <a:avLst/>
          </a:prstGeom>
          <a:solidFill>
            <a:srgbClr val="3DDC84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161113" y="5106410"/>
            <a:ext cx="209430" cy="209430"/>
          </a:xfrm>
          <a:prstGeom prst="ellipse">
            <a:avLst/>
          </a:prstGeom>
          <a:solidFill>
            <a:srgbClr val="3DDC84"/>
          </a:solidFill>
          <a:ln/>
          <a:effectLst>
            <a:outerShdw sx="100000" sy="100000" kx="0" ky="0" algn="bl" rotWithShape="0" blurRad="171450" dist="50800" dir="16200000">
              <a:srgbClr val="3DDC84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945687" y="5487153"/>
            <a:ext cx="716482" cy="558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2004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200064" y="6083965"/>
            <a:ext cx="2131527" cy="558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B8C8E8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Earliest documented PHIERS record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4453922" y="5106410"/>
            <a:ext cx="209430" cy="209430"/>
          </a:xfrm>
          <a:prstGeom prst="ellipse">
            <a:avLst/>
          </a:prstGeom>
          <a:solidFill>
            <a:srgbClr val="3DDC84"/>
          </a:solidFill>
          <a:ln/>
          <a:effectLst>
            <a:outerShdw sx="100000" sy="100000" kx="0" ky="0" algn="bl" rotWithShape="0" blurRad="171450" dist="50800" dir="16200000">
              <a:srgbClr val="3DDC84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8496" y="5487153"/>
            <a:ext cx="716482" cy="558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2007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3492874" y="6083965"/>
            <a:ext cx="2131527" cy="81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B8C8E8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video — the VA recruits Will after watching it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6746518" y="5106410"/>
            <a:ext cx="209430" cy="209430"/>
          </a:xfrm>
          <a:prstGeom prst="ellipse">
            <a:avLst/>
          </a:prstGeom>
          <a:solidFill>
            <a:srgbClr val="3DDC84"/>
          </a:solidFill>
          <a:ln/>
          <a:effectLst>
            <a:outerShdw sx="100000" sy="100000" kx="0" ky="0" algn="bl" rotWithShape="0" blurRad="171450" dist="50800" dir="16200000">
              <a:srgbClr val="3DDC84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1091" y="5487153"/>
            <a:ext cx="716482" cy="558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5785470" y="6083965"/>
            <a:ext cx="2131527" cy="558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B8C8E8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full articulation of the PHIERS mission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039327" y="5106410"/>
            <a:ext cx="209430" cy="209430"/>
          </a:xfrm>
          <a:prstGeom prst="ellipse">
            <a:avLst/>
          </a:prstGeom>
          <a:solidFill>
            <a:srgbClr val="3DDC84"/>
          </a:solidFill>
          <a:ln/>
          <a:effectLst>
            <a:outerShdw sx="100000" sy="100000" kx="0" ky="0" algn="bl" rotWithShape="0" blurRad="171450" dist="50800" dir="16200000">
              <a:srgbClr val="3DDC84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23902" y="5487153"/>
            <a:ext cx="716482" cy="558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8078279" y="6083965"/>
            <a:ext cx="2131527" cy="81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B8C8E8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Health Care Commission — school telehealth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11331922" y="5106410"/>
            <a:ext cx="209430" cy="209430"/>
          </a:xfrm>
          <a:prstGeom prst="ellipse">
            <a:avLst/>
          </a:prstGeom>
          <a:solidFill>
            <a:srgbClr val="3DDC84"/>
          </a:solidFill>
          <a:ln/>
          <a:effectLst>
            <a:outerShdw sx="100000" sy="100000" kx="0" ky="0" algn="bl" rotWithShape="0" blurRad="171450" dist="50800" dir="16200000">
              <a:srgbClr val="3DDC84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116497" y="5487153"/>
            <a:ext cx="716482" cy="558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0370874" y="6083965"/>
            <a:ext cx="2131527" cy="558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B8C8E8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DotCom Magazine Entrepreneur Spotlight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3624732" y="5106410"/>
            <a:ext cx="209430" cy="209430"/>
          </a:xfrm>
          <a:prstGeom prst="ellipse">
            <a:avLst/>
          </a:prstGeom>
          <a:solidFill>
            <a:srgbClr val="3DDC84"/>
          </a:solidFill>
          <a:ln/>
          <a:effectLst>
            <a:outerShdw sx="100000" sy="100000" kx="0" ky="0" algn="bl" rotWithShape="0" blurRad="171450" dist="50800" dir="16200000">
              <a:srgbClr val="3DDC84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409306" y="5487153"/>
            <a:ext cx="716482" cy="558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12663684" y="6083965"/>
            <a:ext cx="2131527" cy="81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B8C8E8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Pathos Communications — LSE listed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5917327" y="5106410"/>
            <a:ext cx="209430" cy="20943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1450" dist="50800" dir="16200000">
              <a:srgbClr val="FFFFFF">
                <a:alpha val="6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5745159" y="5487153"/>
            <a:ext cx="629969" cy="558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3150" dirty="0"/>
          </a:p>
        </p:txBody>
      </p:sp>
      <p:sp>
        <p:nvSpPr>
          <p:cNvPr id="25" name="Text 23"/>
          <p:cNvSpPr/>
          <p:nvPr/>
        </p:nvSpPr>
        <p:spPr>
          <a:xfrm>
            <a:off x="14956279" y="6083965"/>
            <a:ext cx="2131527" cy="558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organizing model — active</a:t>
            </a:r>
            <a:endParaRPr lang="en-US" sz="15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164" y="2906110"/>
            <a:ext cx="17392696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THE NUMBERS WORK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1238164" y="3618343"/>
            <a:ext cx="7715292" cy="3762246"/>
          </a:xfrm>
          <a:prstGeom prst="roundRect">
            <a:avLst>
              <a:gd name="adj" fmla="val 4051"/>
            </a:avLst>
          </a:prstGeom>
          <a:solidFill>
            <a:srgbClr val="0A1628"/>
          </a:solidFill>
          <a:ln w="13705">
            <a:solidFill>
              <a:srgbClr val="3DDC84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09061" y="4127143"/>
            <a:ext cx="7450849" cy="880103"/>
          </a:xfrm>
          <a:prstGeom prst="rect">
            <a:avLst/>
          </a:prstGeom>
          <a:noFill/>
          <a:ln/>
          <a:effectLst>
            <a:outerShdw sx="100000" sy="100000" kx="0" ky="0" algn="bl" rotWithShape="0" blurRad="285750" dist="50800" dir="16200000">
              <a:srgbClr val="3DDC84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80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709061" y="5140459"/>
            <a:ext cx="7450849" cy="47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leverage.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09061" y="5712216"/>
            <a:ext cx="6976704" cy="1197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B8C8E8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tipping point where a district stops being ignorable — enough to force a meeting and put a representative on record.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334414" y="3618343"/>
            <a:ext cx="7715292" cy="3762246"/>
          </a:xfrm>
          <a:prstGeom prst="roundRect">
            <a:avLst>
              <a:gd name="adj" fmla="val 4051"/>
            </a:avLst>
          </a:prstGeom>
          <a:solidFill>
            <a:srgbClr val="0A1628"/>
          </a:solidFill>
          <a:ln w="13705">
            <a:solidFill>
              <a:srgbClr val="3DDC84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05311" y="4127143"/>
            <a:ext cx="7450849" cy="880103"/>
          </a:xfrm>
          <a:prstGeom prst="rect">
            <a:avLst/>
          </a:prstGeom>
          <a:noFill/>
          <a:ln/>
          <a:effectLst>
            <a:outerShdw sx="100000" sy="100000" kx="0" ky="0" algn="bl" rotWithShape="0" blurRad="285750" dist="50800" dir="16200000">
              <a:srgbClr val="3DDC84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80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9805311" y="5140459"/>
            <a:ext cx="7450849" cy="47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the power to replace.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805311" y="5712216"/>
            <a:ext cx="6976704" cy="1197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B8C8E8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pressure becomes real consequences: primary challenges, public exposure, and replacement if they don’t respond.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0" y="0"/>
            <a:ext cx="18287871" cy="1028691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7871" cy="10286914"/>
          </a:xfrm>
          <a:prstGeom prst="rect">
            <a:avLst/>
          </a:prstGeom>
          <a:gradFill rotWithShape="1">
            <a:gsLst>
              <a:gs pos="36000">
                <a:srgbClr val="050B19">
                  <a:alpha val="95000"/>
                </a:srgbClr>
              </a:gs>
              <a:gs pos="100000">
                <a:srgbClr val="050B19">
                  <a:alpha val="5000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1238164" y="3308695"/>
            <a:ext cx="17392696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YOU’VE SEEN THE EVIDENCE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238164" y="3906578"/>
            <a:ext cx="17392696" cy="815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b="1" dirty="0">
                <a:solidFill>
                  <a:srgbClr val="F0F4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Alone, you’re easy to ignore.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1238164" y="4759716"/>
            <a:ext cx="17392696" cy="1066834"/>
          </a:xfrm>
          <a:prstGeom prst="rect">
            <a:avLst/>
          </a:prstGeom>
          <a:noFill/>
          <a:ln/>
          <a:effectLst>
            <a:outerShdw sx="100000" sy="100000" kx="0" ky="0" algn="bl" rotWithShape="0" blurRad="419100" dist="50800" dir="16200000">
              <a:srgbClr val="3DDC84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Organized districts are not.</a:t>
            </a:r>
            <a:endParaRPr lang="en-US" sz="8100" dirty="0"/>
          </a:p>
        </p:txBody>
      </p:sp>
      <p:sp>
        <p:nvSpPr>
          <p:cNvPr id="7" name="Text 4"/>
          <p:cNvSpPr/>
          <p:nvPr/>
        </p:nvSpPr>
        <p:spPr>
          <a:xfrm>
            <a:off x="1238164" y="6169407"/>
            <a:ext cx="10791825" cy="846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B8C8E8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isn’t awareness. Most Americans agree the problems are real. </a:t>
            </a:r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leverage.</a:t>
            </a:r>
            <a:endParaRPr lang="en-US" sz="2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164" y="3470158"/>
            <a:ext cx="17392696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STAKES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1238164" y="4182391"/>
            <a:ext cx="27410" cy="1150795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1551239" y="4182391"/>
            <a:ext cx="5173737" cy="792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$12K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551239" y="5031675"/>
            <a:ext cx="5173737" cy="339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8E8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per beneficiary, every year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635593" y="4182391"/>
            <a:ext cx="27410" cy="1150795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6948667" y="4182391"/>
            <a:ext cx="5173972" cy="792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77M+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6948667" y="5031675"/>
            <a:ext cx="5173972" cy="339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8E8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on Medicaid — ~150M with Medicare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033235" y="4182391"/>
            <a:ext cx="27410" cy="1150795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12346309" y="4182391"/>
            <a:ext cx="5173737" cy="792305"/>
          </a:xfrm>
          <a:prstGeom prst="rect">
            <a:avLst/>
          </a:prstGeom>
          <a:noFill/>
          <a:ln/>
          <a:effectLst>
            <a:outerShdw sx="100000" sy="100000" kx="0" ky="0" algn="bl" rotWithShape="0" blurRad="285750" dist="50800" dir="16200000">
              <a:srgbClr val="3DDC84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60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$1.1–1.4T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12346309" y="5031675"/>
            <a:ext cx="5173737" cy="339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8E8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annual savings telehealth can redirect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38164" y="5809436"/>
            <a:ext cx="14716124" cy="1045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isn’t whether solutions exist. It’s creating enough </a:t>
            </a:r>
            <a:pPr algn="l" indent="0" marL="0">
              <a:lnSpc>
                <a:spcPct val="115000"/>
              </a:lnSpc>
              <a:buNone/>
            </a:pPr>
            <a:r>
              <a:rPr lang="en-US" sz="345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to make Congress act.</a:t>
            </a:r>
            <a:endParaRPr lang="en-US" sz="3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3599071"/>
            <a:ext cx="16973408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HAPPENS NEXT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428750" y="4311304"/>
            <a:ext cx="8172355" cy="47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Petition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28750" y="4883061"/>
            <a:ext cx="8172355" cy="452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8E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us who’s willing to stand up.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429492" y="4311304"/>
            <a:ext cx="8172591" cy="47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Survey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429492" y="4883061"/>
            <a:ext cx="8172591" cy="452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8E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us what your district actually wants.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28750" y="5773460"/>
            <a:ext cx="16973408" cy="952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petition. </a:t>
            </a:r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constituency.</a:t>
            </a:r>
            <a:endParaRPr lang="en-US" sz="7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164" y="761914"/>
            <a:ext cx="17392696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ORGANIZED DISTRICTS CAN BUILD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164" y="1188269"/>
            <a:ext cx="17392696" cy="822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300" b="1" spc="-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system. </a:t>
            </a:r>
            <a:pPr algn="l" indent="0" marL="0">
              <a:lnSpc>
                <a:spcPct val="98000"/>
              </a:lnSpc>
              <a:buNone/>
            </a:pPr>
            <a:r>
              <a:rPr lang="en-US" sz="6300" b="1" spc="-63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priority.</a:t>
            </a:r>
            <a:endParaRPr lang="en-US" sz="6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8805" y="2505452"/>
            <a:ext cx="514153" cy="5141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74400" y="3190918"/>
            <a:ext cx="1822962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08" kern="0" dirty="0">
                <a:solidFill>
                  <a:srgbClr val="F0F4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7508" y="2505452"/>
            <a:ext cx="514153" cy="5141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86471" y="3190918"/>
            <a:ext cx="1476225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08" kern="0" dirty="0">
                <a:solidFill>
                  <a:srgbClr val="F0F4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VETERANS</a:t>
            </a:r>
            <a:endParaRPr lang="en-US" sz="1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05996" y="2505452"/>
            <a:ext cx="514153" cy="51415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43472" y="3190918"/>
            <a:ext cx="1239201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08" kern="0" dirty="0">
                <a:solidFill>
                  <a:srgbClr val="F0F4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</a:t>
            </a:r>
            <a:endParaRPr lang="en-US" sz="1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44698" y="2505452"/>
            <a:ext cx="514153" cy="51415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402654" y="3190918"/>
            <a:ext cx="1598243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08" kern="0" dirty="0">
                <a:solidFill>
                  <a:srgbClr val="F0F4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8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805" y="3884093"/>
            <a:ext cx="514153" cy="51415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009736" y="4569559"/>
            <a:ext cx="2152504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08" kern="0" dirty="0">
                <a:solidFill>
                  <a:srgbClr val="F0F4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SAFETY</a:t>
            </a:r>
            <a:endParaRPr lang="en-US" sz="18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67508" y="3884093"/>
            <a:ext cx="514153" cy="51415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760454" y="4569559"/>
            <a:ext cx="728260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08" kern="0" dirty="0">
                <a:solidFill>
                  <a:srgbClr val="F0F4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18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905996" y="3884093"/>
            <a:ext cx="514153" cy="51415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150999" y="4569559"/>
            <a:ext cx="2024362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08" kern="0" dirty="0">
                <a:solidFill>
                  <a:srgbClr val="F0F4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COSTS</a:t>
            </a:r>
            <a:endParaRPr lang="en-US" sz="18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944698" y="3884093"/>
            <a:ext cx="514153" cy="514153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4085367" y="4569559"/>
            <a:ext cx="2232816" cy="540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spc="108" kern="0" dirty="0">
                <a:solidFill>
                  <a:srgbClr val="F0F4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GOVT. ACCOUNTABILITY</a:t>
            </a:r>
            <a:endParaRPr lang="en-US" sz="1800" dirty="0"/>
          </a:p>
        </p:txBody>
      </p:sp>
      <p:sp>
        <p:nvSpPr>
          <p:cNvPr id="20" name="Text 10"/>
          <p:cNvSpPr/>
          <p:nvPr/>
        </p:nvSpPr>
        <p:spPr>
          <a:xfrm>
            <a:off x="1238164" y="5624632"/>
            <a:ext cx="17392696" cy="627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priorities. </a:t>
            </a:r>
            <a:pPr algn="l" indent="0" marL="0">
              <a:buNone/>
            </a:pPr>
            <a:r>
              <a:rPr lang="en-US" sz="405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accountability system.</a:t>
            </a:r>
            <a:endParaRPr lang="en-US" sz="4050" dirty="0"/>
          </a:p>
        </p:txBody>
      </p:sp>
      <p:sp>
        <p:nvSpPr>
          <p:cNvPr id="21" name="Text 11"/>
          <p:cNvSpPr/>
          <p:nvPr/>
        </p:nvSpPr>
        <p:spPr>
          <a:xfrm>
            <a:off x="1238164" y="9305762"/>
            <a:ext cx="16285888" cy="257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B8C8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PHIERS.ORG · THE LEVERAGE CONGRESS CAN’T IGNORE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164" y="2552563"/>
            <a:ext cx="17392696" cy="312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CAUSE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164" y="2978918"/>
            <a:ext cx="17392696" cy="806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300" b="1" spc="-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cause. </a:t>
            </a:r>
            <a:pPr algn="l" indent="0" marL="0">
              <a:lnSpc>
                <a:spcPct val="96000"/>
              </a:lnSpc>
              <a:buNone/>
            </a:pPr>
            <a:r>
              <a:rPr lang="en-US" sz="6300" b="1" spc="-63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leverage.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238164" y="4224149"/>
            <a:ext cx="304689" cy="449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99849" y="4251559"/>
            <a:ext cx="1521653" cy="394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327793" y="4224149"/>
            <a:ext cx="304689" cy="449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689478" y="4251559"/>
            <a:ext cx="1156756" cy="394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8164" y="4768496"/>
            <a:ext cx="304689" cy="449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99849" y="4795906"/>
            <a:ext cx="1247124" cy="394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327793" y="4768496"/>
            <a:ext cx="304689" cy="449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89478" y="4795906"/>
            <a:ext cx="1880125" cy="394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38164" y="5312843"/>
            <a:ext cx="304689" cy="449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99849" y="5340253"/>
            <a:ext cx="2327894" cy="394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Families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7793" y="5312843"/>
            <a:ext cx="304689" cy="449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89478" y="5340253"/>
            <a:ext cx="1422506" cy="394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38164" y="5857190"/>
            <a:ext cx="304689" cy="449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99849" y="5884600"/>
            <a:ext cx="1899398" cy="394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Security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327793" y="5857190"/>
            <a:ext cx="304689" cy="449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89478" y="5884600"/>
            <a:ext cx="1791685" cy="394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Safety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38164" y="6401537"/>
            <a:ext cx="304689" cy="449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599849" y="6428947"/>
            <a:ext cx="2042658" cy="394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Transportation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607794" y="5189497"/>
            <a:ext cx="647743" cy="695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500" dirty="0"/>
          </a:p>
        </p:txBody>
      </p:sp>
      <p:sp>
        <p:nvSpPr>
          <p:cNvPr id="23" name="Text 21"/>
          <p:cNvSpPr/>
          <p:nvPr/>
        </p:nvSpPr>
        <p:spPr>
          <a:xfrm>
            <a:off x="8845958" y="4184961"/>
            <a:ext cx="3820707" cy="216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01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8845958" y="4363126"/>
            <a:ext cx="3820707" cy="419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Organization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864803" y="4915396"/>
            <a:ext cx="18844" cy="152254"/>
          </a:xfrm>
          <a:prstGeom prst="rect">
            <a:avLst/>
          </a:prstGeom>
          <a:solidFill>
            <a:srgbClr val="3DDC84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845958" y="5238964"/>
            <a:ext cx="3820707" cy="216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02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8845958" y="5417129"/>
            <a:ext cx="3820707" cy="419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Accountability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8864803" y="5969400"/>
            <a:ext cx="18844" cy="152254"/>
          </a:xfrm>
          <a:prstGeom prst="rect">
            <a:avLst/>
          </a:prstGeom>
          <a:solidFill>
            <a:srgbClr val="3DDC84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845958" y="6292967"/>
            <a:ext cx="3820707" cy="216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03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8845958" y="6471132"/>
            <a:ext cx="3820707" cy="419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Congress Responds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238164" y="7309281"/>
            <a:ext cx="17392696" cy="462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B8C8E8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PHIERS doesn’t decide America’s priorities. </a:t>
            </a:r>
            <a:pPr algn="l" indent="0" marL="0">
              <a:buNone/>
            </a:pPr>
            <a:r>
              <a:rPr lang="en-US" sz="27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Americans do.</a:t>
            </a:r>
            <a:endParaRPr lang="en-US" sz="2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rcRect l="0" r="0" t="453" b="453"/>
          <a:stretch/>
        </p:blipFill>
        <p:spPr>
          <a:xfrm>
            <a:off x="0" y="0"/>
            <a:ext cx="18287871" cy="1028691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7871" cy="10286914"/>
          </a:xfrm>
          <a:prstGeom prst="rect">
            <a:avLst/>
          </a:prstGeom>
          <a:gradFill rotWithShape="1">
            <a:gsLst>
              <a:gs pos="40000">
                <a:srgbClr val="050B19">
                  <a:alpha val="96000"/>
                </a:srgbClr>
              </a:gs>
              <a:gs pos="100000">
                <a:srgbClr val="050B19">
                  <a:alpha val="5000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1238164" y="1736257"/>
            <a:ext cx="17392696" cy="822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brings you here…</a:t>
            </a:r>
            <a:endParaRPr lang="en-US" sz="6300" dirty="0"/>
          </a:p>
        </p:txBody>
      </p:sp>
      <p:sp>
        <p:nvSpPr>
          <p:cNvPr id="5" name="Shape 2"/>
          <p:cNvSpPr/>
          <p:nvPr/>
        </p:nvSpPr>
        <p:spPr>
          <a:xfrm>
            <a:off x="1238164" y="2901185"/>
            <a:ext cx="27410" cy="47989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6" name="Text 3"/>
          <p:cNvSpPr/>
          <p:nvPr/>
        </p:nvSpPr>
        <p:spPr>
          <a:xfrm>
            <a:off x="1475124" y="2901185"/>
            <a:ext cx="17155736" cy="517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Healthcare.</a:t>
            </a:r>
            <a:endParaRPr lang="en-US" sz="3150" dirty="0"/>
          </a:p>
        </p:txBody>
      </p:sp>
      <p:sp>
        <p:nvSpPr>
          <p:cNvPr id="7" name="Shape 4"/>
          <p:cNvSpPr/>
          <p:nvPr/>
        </p:nvSpPr>
        <p:spPr>
          <a:xfrm>
            <a:off x="1238164" y="3438037"/>
            <a:ext cx="27410" cy="47989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8" name="Text 5"/>
          <p:cNvSpPr/>
          <p:nvPr/>
        </p:nvSpPr>
        <p:spPr>
          <a:xfrm>
            <a:off x="1475124" y="3438037"/>
            <a:ext cx="17155736" cy="517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Veterans.</a:t>
            </a:r>
            <a:endParaRPr lang="en-US" sz="3150" dirty="0"/>
          </a:p>
        </p:txBody>
      </p:sp>
      <p:sp>
        <p:nvSpPr>
          <p:cNvPr id="9" name="Shape 6"/>
          <p:cNvSpPr/>
          <p:nvPr/>
        </p:nvSpPr>
        <p:spPr>
          <a:xfrm>
            <a:off x="1238164" y="3974888"/>
            <a:ext cx="27410" cy="47989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0" name="Text 7"/>
          <p:cNvSpPr/>
          <p:nvPr/>
        </p:nvSpPr>
        <p:spPr>
          <a:xfrm>
            <a:off x="1475124" y="3974888"/>
            <a:ext cx="17155736" cy="517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Housing.</a:t>
            </a:r>
            <a:endParaRPr lang="en-US" sz="3150" dirty="0"/>
          </a:p>
        </p:txBody>
      </p:sp>
      <p:sp>
        <p:nvSpPr>
          <p:cNvPr id="11" name="Shape 8"/>
          <p:cNvSpPr/>
          <p:nvPr/>
        </p:nvSpPr>
        <p:spPr>
          <a:xfrm>
            <a:off x="1238164" y="4511741"/>
            <a:ext cx="27410" cy="47989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2" name="Text 9"/>
          <p:cNvSpPr/>
          <p:nvPr/>
        </p:nvSpPr>
        <p:spPr>
          <a:xfrm>
            <a:off x="1475124" y="4511741"/>
            <a:ext cx="17155736" cy="517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Corruption.</a:t>
            </a:r>
            <a:endParaRPr lang="en-US" sz="3150" dirty="0"/>
          </a:p>
        </p:txBody>
      </p:sp>
      <p:sp>
        <p:nvSpPr>
          <p:cNvPr id="13" name="Shape 10"/>
          <p:cNvSpPr/>
          <p:nvPr/>
        </p:nvSpPr>
        <p:spPr>
          <a:xfrm>
            <a:off x="1238164" y="5048592"/>
            <a:ext cx="27410" cy="47989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4" name="Text 11"/>
          <p:cNvSpPr/>
          <p:nvPr/>
        </p:nvSpPr>
        <p:spPr>
          <a:xfrm>
            <a:off x="1475124" y="5048592"/>
            <a:ext cx="17155736" cy="517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Opportunity.</a:t>
            </a:r>
            <a:endParaRPr lang="en-US" sz="3150" dirty="0"/>
          </a:p>
        </p:txBody>
      </p:sp>
      <p:sp>
        <p:nvSpPr>
          <p:cNvPr id="15" name="Shape 12"/>
          <p:cNvSpPr/>
          <p:nvPr/>
        </p:nvSpPr>
        <p:spPr>
          <a:xfrm>
            <a:off x="1238164" y="5585445"/>
            <a:ext cx="27410" cy="47989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6" name="Text 13"/>
          <p:cNvSpPr/>
          <p:nvPr/>
        </p:nvSpPr>
        <p:spPr>
          <a:xfrm>
            <a:off x="1475124" y="5585445"/>
            <a:ext cx="17155736" cy="517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Justice.</a:t>
            </a:r>
            <a:endParaRPr lang="en-US" sz="3150" dirty="0"/>
          </a:p>
        </p:txBody>
      </p:sp>
      <p:sp>
        <p:nvSpPr>
          <p:cNvPr id="17" name="Shape 14"/>
          <p:cNvSpPr/>
          <p:nvPr/>
        </p:nvSpPr>
        <p:spPr>
          <a:xfrm>
            <a:off x="1238164" y="6122296"/>
            <a:ext cx="27410" cy="47989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8" name="Text 15"/>
          <p:cNvSpPr/>
          <p:nvPr/>
        </p:nvSpPr>
        <p:spPr>
          <a:xfrm>
            <a:off x="1475124" y="6122296"/>
            <a:ext cx="17155736" cy="517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Education.</a:t>
            </a:r>
            <a:endParaRPr lang="en-US" sz="3150" dirty="0"/>
          </a:p>
        </p:txBody>
      </p:sp>
      <p:sp>
        <p:nvSpPr>
          <p:cNvPr id="19" name="Text 16"/>
          <p:cNvSpPr/>
          <p:nvPr/>
        </p:nvSpPr>
        <p:spPr>
          <a:xfrm>
            <a:off x="1238164" y="7040320"/>
            <a:ext cx="17392696" cy="3944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8C8E8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don’t have to agree on everything.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238164" y="7510787"/>
            <a:ext cx="10791825" cy="1077970"/>
          </a:xfrm>
          <a:prstGeom prst="rect">
            <a:avLst/>
          </a:prstGeom>
          <a:noFill/>
          <a:ln/>
          <a:effectLst>
            <a:outerShdw sx="100000" sy="100000" kx="0" ky="0" algn="bl" rotWithShape="0" blurRad="342900" dist="50800" dir="16200000">
              <a:srgbClr val="3DDC84">
                <a:alpha val="3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9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only have to agree that Congress should answer to the people.</a:t>
            </a:r>
            <a:endParaRPr lang="en-US" sz="3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240" b="240"/>
          <a:stretch/>
        </p:blipFill>
        <p:spPr>
          <a:xfrm>
            <a:off x="0" y="0"/>
            <a:ext cx="18287871" cy="1028691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7871" cy="10286914"/>
          </a:xfrm>
          <a:prstGeom prst="rect">
            <a:avLst/>
          </a:prstGeom>
          <a:gradFill rotWithShape="1">
            <a:gsLst>
              <a:gs pos="0">
                <a:srgbClr val="050B19">
                  <a:alpha val="30000"/>
                </a:srgbClr>
              </a:gs>
              <a:gs pos="38000">
                <a:srgbClr val="050B19">
                  <a:alpha val="0"/>
                </a:srgbClr>
              </a:gs>
              <a:gs pos="100000">
                <a:srgbClr val="050B19">
                  <a:alpha val="94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1238164" y="7776751"/>
            <a:ext cx="17392696" cy="934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200" b="1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is built </a:t>
            </a:r>
            <a:pPr algn="l" indent="0" marL="0">
              <a:lnSpc>
                <a:spcPct val="98000"/>
              </a:lnSpc>
              <a:buNone/>
            </a:pPr>
            <a:r>
              <a:rPr lang="en-US" sz="7200" b="1" spc="-72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by district.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1238164" y="8920265"/>
            <a:ext cx="17392696" cy="490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0F4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communities. </a:t>
            </a:r>
            <a:pPr algn="l" indent="0" marL="0">
              <a:buNone/>
            </a:pPr>
            <a:r>
              <a:rPr lang="en-US" sz="285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leverage.</a:t>
            </a:r>
            <a:endParaRPr lang="en-US" sz="2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871" cy="10286914"/>
          </a:xfrm>
          <a:prstGeom prst="rect">
            <a:avLst/>
          </a:prstGeom>
          <a:gradFill rotWithShape="1">
            <a:gsLst>
              <a:gs pos="0">
                <a:srgbClr val="0A1322">
                  <a:alpha val="100000"/>
                </a:srgbClr>
              </a:gs>
              <a:gs pos="66000">
                <a:srgbClr val="050B19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7455646" y="3238457"/>
            <a:ext cx="3376364" cy="3810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97294" y="2991980"/>
            <a:ext cx="15893282" cy="219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850" b="1" spc="-8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 already has the solutions.</a:t>
            </a:r>
            <a:endParaRPr lang="en-US" sz="8850" dirty="0"/>
          </a:p>
        </p:txBody>
      </p:sp>
      <p:sp>
        <p:nvSpPr>
          <p:cNvPr id="5" name="Shape 2"/>
          <p:cNvSpPr/>
          <p:nvPr/>
        </p:nvSpPr>
        <p:spPr>
          <a:xfrm>
            <a:off x="8715332" y="5626346"/>
            <a:ext cx="857207" cy="18844"/>
          </a:xfrm>
          <a:prstGeom prst="rect">
            <a:avLst/>
          </a:prstGeom>
          <a:solidFill>
            <a:srgbClr val="3DDC84">
              <a:alpha val="6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197294" y="6121440"/>
            <a:ext cx="15893282" cy="12115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0F4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we’ve been missing… </a:t>
            </a:r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leverage to make them happen.</a:t>
            </a:r>
            <a:endParaRPr lang="en-US" sz="4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871" cy="10286914"/>
          </a:xfrm>
          <a:prstGeom prst="rect">
            <a:avLst/>
          </a:prstGeom>
          <a:gradFill rotWithShape="1">
            <a:gsLst>
              <a:gs pos="0">
                <a:srgbClr val="0A1322">
                  <a:alpha val="100000"/>
                </a:srgbClr>
              </a:gs>
              <a:gs pos="64000">
                <a:srgbClr val="050B19">
                  <a:alpha val="100000"/>
                </a:srgbClr>
              </a:gs>
            </a:gsLst>
            <a:path path="circle">
              <a:fillToRect l="50000" t="44000" r="50000" b="56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7371381" y="2731692"/>
            <a:ext cx="3544893" cy="400037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651" y="2845936"/>
            <a:ext cx="1168354" cy="8762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23758" y="4206803"/>
            <a:ext cx="12840354" cy="1008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counted in your district.</a:t>
            </a:r>
            <a:endParaRPr lang="en-US" sz="7800" dirty="0"/>
          </a:p>
        </p:txBody>
      </p:sp>
      <p:sp>
        <p:nvSpPr>
          <p:cNvPr id="6" name="Shape 2"/>
          <p:cNvSpPr/>
          <p:nvPr/>
        </p:nvSpPr>
        <p:spPr>
          <a:xfrm>
            <a:off x="4243636" y="5710717"/>
            <a:ext cx="4162262" cy="857421"/>
          </a:xfrm>
          <a:prstGeom prst="roundRect">
            <a:avLst>
              <a:gd name="adj" fmla="val 11109"/>
            </a:avLst>
          </a:prstGeom>
          <a:solidFill>
            <a:srgbClr val="3DDC84"/>
          </a:solidFill>
          <a:ln/>
          <a:effectLst>
            <a:outerShdw sx="100000" sy="100000" kx="0" ky="0" algn="bl" rotWithShape="0" blurRad="342900" dist="50800" dir="16200000">
              <a:srgbClr val="3DDC84">
                <a:alpha val="3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619352" y="5920267"/>
            <a:ext cx="3410830" cy="476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72" kern="0" dirty="0">
                <a:solidFill>
                  <a:srgbClr val="08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 ADD YOUR NAME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8653445" y="5710717"/>
            <a:ext cx="5390790" cy="857421"/>
          </a:xfrm>
          <a:prstGeom prst="roundRect">
            <a:avLst>
              <a:gd name="adj" fmla="val 11109"/>
            </a:avLst>
          </a:prstGeom>
          <a:ln w="13705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024438" y="5933972"/>
            <a:ext cx="4648804" cy="449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72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COMPLETE THE SURVEY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2723758" y="7139467"/>
            <a:ext cx="12840354" cy="339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288" kern="0" dirty="0">
                <a:solidFill>
                  <a:srgbClr val="B8C8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PHIERS.ORG · THE LEVERAGE CONGRESS CAN’T IGNORE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2026-06-29T01:43:01Z</dcterms:created>
  <dcterms:modified xsi:type="dcterms:W3CDTF">2026-06-29T01:43:01Z</dcterms:modified>
</cp:coreProperties>
</file>